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handoutMasterIdLst>
    <p:handoutMasterId r:id="rId38"/>
  </p:handoutMasterIdLst>
  <p:sldIdLst>
    <p:sldId id="256" r:id="rId5"/>
    <p:sldId id="282" r:id="rId6"/>
    <p:sldId id="257" r:id="rId7"/>
    <p:sldId id="301" r:id="rId8"/>
    <p:sldId id="303" r:id="rId9"/>
    <p:sldId id="271" r:id="rId10"/>
    <p:sldId id="309" r:id="rId11"/>
    <p:sldId id="315" r:id="rId12"/>
    <p:sldId id="304" r:id="rId13"/>
    <p:sldId id="305" r:id="rId14"/>
    <p:sldId id="323" r:id="rId15"/>
    <p:sldId id="306" r:id="rId16"/>
    <p:sldId id="310" r:id="rId17"/>
    <p:sldId id="311" r:id="rId18"/>
    <p:sldId id="316" r:id="rId19"/>
    <p:sldId id="265" r:id="rId20"/>
    <p:sldId id="264" r:id="rId21"/>
    <p:sldId id="312" r:id="rId22"/>
    <p:sldId id="287" r:id="rId23"/>
    <p:sldId id="317" r:id="rId24"/>
    <p:sldId id="307" r:id="rId25"/>
    <p:sldId id="318" r:id="rId26"/>
    <p:sldId id="319" r:id="rId27"/>
    <p:sldId id="313" r:id="rId28"/>
    <p:sldId id="263" r:id="rId29"/>
    <p:sldId id="324" r:id="rId30"/>
    <p:sldId id="261" r:id="rId31"/>
    <p:sldId id="314" r:id="rId32"/>
    <p:sldId id="320" r:id="rId33"/>
    <p:sldId id="321" r:id="rId34"/>
    <p:sldId id="322" r:id="rId35"/>
    <p:sldId id="290" r:id="rId36"/>
  </p:sldIdLst>
  <p:sldSz cx="12192000" cy="6858000"/>
  <p:notesSz cx="6858000" cy="9144000"/>
  <p:custDataLst>
    <p:tags r:id="rId39"/>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rhii Harmash" initials="SH" lastIdx="1" clrIdx="0">
    <p:extLst>
      <p:ext uri="{19B8F6BF-5375-455C-9EA6-DF929625EA0E}">
        <p15:presenceInfo xmlns:p15="http://schemas.microsoft.com/office/powerpoint/2012/main" userId="S::SHHR@simcorp.com::19965dc1-3670-4089-9e09-ab6aab33a0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A9AE"/>
    <a:srgbClr val="00DEE6"/>
    <a:srgbClr val="44B8D6"/>
    <a:srgbClr val="15AAA6"/>
    <a:srgbClr val="A5C8CF"/>
    <a:srgbClr val="547A8B"/>
    <a:srgbClr val="010B19"/>
    <a:srgbClr val="CCCCCC"/>
    <a:srgbClr val="DADADA"/>
    <a:srgbClr val="082A41"/>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EBADA-6743-4D46-A248-C934DA6D786E}" v="3" dt="2024-11-04T11:38:04.645"/>
    <p1510:client id="{7F39492C-6516-1702-920D-A76BBCE563CA}" v="5" dt="2024-11-04T10:09:07.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gs" Target="tags/tag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758475-46F8-48DB-8603-B040CBA163BF}" type="datetimeFigureOut">
              <a:rPr lang="da-DK" smtClean="0"/>
              <a:t>04-11-2024</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11/4/2024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https://learngitbranching.js.org</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a:t>
            </a:fld>
            <a:endParaRPr lang="en-US"/>
          </a:p>
        </p:txBody>
      </p:sp>
    </p:spTree>
    <p:extLst>
      <p:ext uri="{BB962C8B-B14F-4D97-AF65-F5344CB8AC3E}">
        <p14:creationId xmlns:p14="http://schemas.microsoft.com/office/powerpoint/2010/main" val="9487243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246991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3783686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1285072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142584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15503774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https://git-scm.com/book/en/v2/Git-Branching-Branches-in-a-Nutshell</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32127233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29</a:t>
            </a:fld>
            <a:endParaRPr lang="en-US"/>
          </a:p>
        </p:txBody>
      </p:sp>
    </p:spTree>
    <p:extLst>
      <p:ext uri="{BB962C8B-B14F-4D97-AF65-F5344CB8AC3E}">
        <p14:creationId xmlns:p14="http://schemas.microsoft.com/office/powerpoint/2010/main" val="3382941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30</a:t>
            </a:fld>
            <a:endParaRPr lang="en-US"/>
          </a:p>
        </p:txBody>
      </p:sp>
    </p:spTree>
    <p:extLst>
      <p:ext uri="{BB962C8B-B14F-4D97-AF65-F5344CB8AC3E}">
        <p14:creationId xmlns:p14="http://schemas.microsoft.com/office/powerpoint/2010/main" val="345995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333333"/>
                </a:solidFill>
                <a:effectLst/>
                <a:latin typeface="inter-regular"/>
              </a:rPr>
              <a:t>Generally, the stash's meaning is "</a:t>
            </a:r>
            <a:r>
              <a:rPr lang="en-US" b="1" i="0">
                <a:solidFill>
                  <a:srgbClr val="333333"/>
                </a:solidFill>
                <a:effectLst/>
                <a:latin typeface="inter-bold"/>
              </a:rPr>
              <a:t>store something safely in a hidden place</a:t>
            </a:r>
            <a:r>
              <a:rPr lang="en-US" b="0" i="0">
                <a:solidFill>
                  <a:srgbClr val="333333"/>
                </a:solidFill>
                <a:effectLst/>
                <a:latin typeface="inter-regular"/>
              </a:rPr>
              <a:t>." The sense in Git is also the same for stash; Git temporarily saves your data safely without committing.</a:t>
            </a:r>
          </a:p>
          <a:p>
            <a:r>
              <a:rPr lang="en-US"/>
              <a:t>https://www.javatpoint.com/git-stash</a:t>
            </a:r>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31</a:t>
            </a:fld>
            <a:endParaRPr lang="en-US"/>
          </a:p>
        </p:txBody>
      </p:sp>
    </p:spTree>
    <p:extLst>
      <p:ext uri="{BB962C8B-B14F-4D97-AF65-F5344CB8AC3E}">
        <p14:creationId xmlns:p14="http://schemas.microsoft.com/office/powerpoint/2010/main" val="13280615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err="1">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git-scm.com/download/gui/windows" TargetMode="External"/><Relationship Id="rId2" Type="http://schemas.openxmlformats.org/officeDocument/2006/relationships/hyperlink" Target="https://git-scm.com/book/en/v2/Appendix-A%3A-Git-in-Other-Environments-Git-in-Visual-Studio" TargetMode="Externa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s://github.com/github/gitignore/blob/master/VisualStudio.gitignore"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github/gitignore/blob/master/VisualStudio.gitignore"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hyperlink" Target="https://github.com/new"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Introduction to GIT</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a:ea typeface="ＭＳ Ｐゴシック"/>
              </a:rPr>
              <a:t>Module 1</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5" y="1514272"/>
            <a:ext cx="5425015"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What is git?</a:t>
            </a:r>
          </a:p>
          <a:p>
            <a:pPr marL="342900" indent="-342900" defTabSz="179388">
              <a:buClr>
                <a:srgbClr val="00DEE6"/>
              </a:buClr>
              <a:buFont typeface="Arial" panose="020B0604020202020204" pitchFamily="34" charset="0"/>
              <a:buAutoNum type="arabicPeriod"/>
            </a:pPr>
            <a:r>
              <a:rPr lang="en-US" sz="1600">
                <a:latin typeface="+mn-lt"/>
              </a:rPr>
              <a:t>Git tools</a:t>
            </a:r>
          </a:p>
          <a:p>
            <a:pPr marL="342900" indent="-342900" defTabSz="179388">
              <a:buClr>
                <a:srgbClr val="00DEE6"/>
              </a:buClr>
              <a:buFont typeface="Arial" panose="020B0604020202020204" pitchFamily="34" charset="0"/>
              <a:buAutoNum type="arabicPeriod"/>
            </a:pPr>
            <a:r>
              <a:rPr lang="en-US" sz="1600">
                <a:latin typeface="+mn-lt"/>
              </a:rPr>
              <a:t>What is repository?</a:t>
            </a:r>
          </a:p>
          <a:p>
            <a:pPr marL="342900" indent="-342900" defTabSz="179388">
              <a:buClr>
                <a:srgbClr val="00DEE6"/>
              </a:buClr>
              <a:buFont typeface="Arial" panose="020B0604020202020204" pitchFamily="34" charset="0"/>
              <a:buAutoNum type="arabicPeriod"/>
            </a:pPr>
            <a:r>
              <a:rPr lang="en-US" sz="1600">
                <a:latin typeface="+mn-lt"/>
              </a:rPr>
              <a:t>The .gitignore file</a:t>
            </a:r>
          </a:p>
          <a:p>
            <a:pPr marL="342900" indent="-342900" defTabSz="179388">
              <a:buClr>
                <a:srgbClr val="00DEE6"/>
              </a:buClr>
              <a:buFont typeface="Arial" panose="020B0604020202020204" pitchFamily="34" charset="0"/>
              <a:buAutoNum type="arabicPeriod"/>
            </a:pPr>
            <a:r>
              <a:rPr lang="en-US" sz="1600">
                <a:latin typeface="+mn-lt"/>
              </a:rPr>
              <a:t>Practice 1</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rPr>
              <a:t>Coffee break </a:t>
            </a:r>
          </a:p>
          <a:p>
            <a:pPr marL="342900" indent="-342900" defTabSz="179388">
              <a:buClr>
                <a:srgbClr val="00DEE6"/>
              </a:buClr>
              <a:buFont typeface="Arial" panose="020B0604020202020204" pitchFamily="34" charset="0"/>
              <a:buAutoNum type="arabicPeriod"/>
            </a:pPr>
            <a:r>
              <a:rPr lang="en-US" sz="1600">
                <a:latin typeface="+mn-lt"/>
              </a:rPr>
              <a:t>The three states of a file in git</a:t>
            </a:r>
          </a:p>
          <a:p>
            <a:pPr marL="342900" indent="-342900" defTabSz="179388">
              <a:buClr>
                <a:srgbClr val="00DEE6"/>
              </a:buClr>
              <a:buFont typeface="Arial" panose="020B0604020202020204" pitchFamily="34" charset="0"/>
              <a:buAutoNum type="arabicPeriod"/>
            </a:pPr>
            <a:r>
              <a:rPr lang="en-US" sz="1600">
                <a:latin typeface="+mn-lt"/>
              </a:rPr>
              <a:t>Three main sections of a git project</a:t>
            </a:r>
          </a:p>
          <a:p>
            <a:pPr marL="342900" indent="-342900" defTabSz="179388">
              <a:buClr>
                <a:srgbClr val="00DEE6"/>
              </a:buClr>
              <a:buFont typeface="Arial" panose="020B0604020202020204" pitchFamily="34" charset="0"/>
              <a:buAutoNum type="arabicPeriod"/>
            </a:pPr>
            <a:r>
              <a:rPr lang="en-US" sz="1600">
                <a:latin typeface="+mn-lt"/>
              </a:rPr>
              <a:t>​What is a commit​?</a:t>
            </a:r>
          </a:p>
          <a:p>
            <a:pPr marL="342900" indent="-342900" defTabSz="179388">
              <a:buClr>
                <a:srgbClr val="00DEE6"/>
              </a:buClr>
              <a:buFont typeface="Arial" panose="020B0604020202020204" pitchFamily="34" charset="0"/>
              <a:buAutoNum type="arabicPeriod"/>
            </a:pPr>
            <a:r>
              <a:rPr lang="en-US" sz="1600">
                <a:latin typeface="+mn-lt"/>
              </a:rPr>
              <a:t>Practice 2</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rPr>
              <a:t>Coffee break </a:t>
            </a:r>
          </a:p>
          <a:p>
            <a:pPr marL="342900" indent="-342900" defTabSz="179388">
              <a:buClr>
                <a:srgbClr val="00DEE6"/>
              </a:buClr>
              <a:buFont typeface="Arial" panose="020B0604020202020204" pitchFamily="34" charset="0"/>
              <a:buAutoNum type="arabicPeriod"/>
            </a:pPr>
            <a:r>
              <a:rPr lang="en-US" sz="1600">
                <a:latin typeface="+mn-lt"/>
              </a:rPr>
              <a:t>Upload changes</a:t>
            </a:r>
          </a:p>
          <a:p>
            <a:pPr marL="342900" indent="-342900" defTabSz="179388">
              <a:buClr>
                <a:srgbClr val="00DEE6"/>
              </a:buClr>
              <a:buFont typeface="Arial" panose="020B0604020202020204" pitchFamily="34" charset="0"/>
              <a:buAutoNum type="arabicPeriod"/>
            </a:pPr>
            <a:r>
              <a:rPr lang="en-US" sz="1600">
                <a:latin typeface="+mn-lt"/>
              </a:rPr>
              <a:t>Download changes</a:t>
            </a:r>
          </a:p>
          <a:p>
            <a:pPr marL="342900" indent="-342900" defTabSz="179388">
              <a:buClr>
                <a:srgbClr val="00DEE6"/>
              </a:buClr>
              <a:buFont typeface="Arial" panose="020B0604020202020204" pitchFamily="34" charset="0"/>
              <a:buAutoNum type="arabicPeriod"/>
            </a:pPr>
            <a:r>
              <a:rPr lang="en-US" sz="1600">
                <a:latin typeface="+mn-lt"/>
              </a:rPr>
              <a:t>Practice 3</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Lunch </a:t>
            </a:r>
            <a:endParaRPr lang="en-US" sz="1600" i="1">
              <a:solidFill>
                <a:schemeClr val="accent1">
                  <a:lumMod val="50000"/>
                </a:schemeClr>
              </a:solidFill>
              <a:latin typeface="+mn-lt"/>
            </a:endParaRPr>
          </a:p>
          <a:p>
            <a:pPr marL="342900" indent="-342900" defTabSz="179388">
              <a:buClr>
                <a:srgbClr val="00DEE6"/>
              </a:buClr>
              <a:buFont typeface="Arial" panose="020B0604020202020204" pitchFamily="34" charset="0"/>
              <a:buAutoNum type="arabicPeriod"/>
            </a:pPr>
            <a:r>
              <a:rPr lang="en-US" sz="1600">
                <a:latin typeface="+mn-lt"/>
              </a:rPr>
              <a:t>What is a branch​?</a:t>
            </a:r>
          </a:p>
          <a:p>
            <a:pPr marL="342900" indent="-342900" defTabSz="179388">
              <a:buClr>
                <a:srgbClr val="00DEE6"/>
              </a:buClr>
              <a:buFont typeface="Arial" panose="020B0604020202020204" pitchFamily="34" charset="0"/>
              <a:buAutoNum type="arabicPeriod"/>
            </a:pPr>
            <a:r>
              <a:rPr lang="en-US" sz="1600">
                <a:latin typeface="+mn-lt"/>
              </a:rPr>
              <a:t>What is a cherry pick​?</a:t>
            </a:r>
          </a:p>
          <a:p>
            <a:pPr marL="342900" indent="-342900" defTabSz="179388">
              <a:buClr>
                <a:srgbClr val="00DEE6"/>
              </a:buClr>
              <a:buFont typeface="Arial" panose="020B0604020202020204" pitchFamily="34" charset="0"/>
              <a:buAutoNum type="arabicPeriod"/>
            </a:pPr>
            <a:r>
              <a:rPr lang="en-US" sz="1600">
                <a:latin typeface="+mn-lt"/>
              </a:rPr>
              <a:t>Practice 4</a:t>
            </a:r>
          </a:p>
          <a:p>
            <a:pPr defTabSz="179388">
              <a:buClr>
                <a:srgbClr val="00DEE6"/>
              </a:buClr>
            </a:pPr>
            <a:endParaRPr lang="en-US" sz="1600">
              <a:latin typeface="+mn-lt"/>
            </a:endParaRPr>
          </a:p>
        </p:txBody>
      </p:sp>
      <p:sp>
        <p:nvSpPr>
          <p:cNvPr id="6" name="TextBox 5">
            <a:extLst>
              <a:ext uri="{FF2B5EF4-FFF2-40B4-BE49-F238E27FC236}">
                <a16:creationId xmlns:a16="http://schemas.microsoft.com/office/drawing/2014/main" id="{DAE35766-1C68-4F1E-8F40-0524B0DEF6BB}"/>
              </a:ext>
            </a:extLst>
          </p:cNvPr>
          <p:cNvSpPr txBox="1"/>
          <p:nvPr/>
        </p:nvSpPr>
        <p:spPr>
          <a:xfrm>
            <a:off x="6684580" y="1518111"/>
            <a:ext cx="5425016"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a:buAutoNum type="arabicPeriod" startAt="19"/>
            </a:pPr>
            <a:r>
              <a:rPr lang="en-US" sz="1600" i="1">
                <a:solidFill>
                  <a:schemeClr val="accent1">
                    <a:lumMod val="50000"/>
                  </a:schemeClr>
                </a:solidFill>
                <a:latin typeface="+mn-lt"/>
              </a:rPr>
              <a:t>Coffee break</a:t>
            </a:r>
          </a:p>
          <a:p>
            <a:pPr marL="342900" indent="-342900" defTabSz="179388">
              <a:buClr>
                <a:srgbClr val="00DEE6"/>
              </a:buClr>
              <a:buAutoNum type="arabicPeriod" startAt="19"/>
            </a:pPr>
            <a:r>
              <a:rPr lang="en-US" sz="1600">
                <a:latin typeface="+mn-lt"/>
                <a:ea typeface="ＭＳ Ｐゴシック"/>
              </a:rPr>
              <a:t>Merge vs rebase</a:t>
            </a:r>
            <a:endParaRPr lang="en-US"/>
          </a:p>
          <a:p>
            <a:pPr marL="342900" indent="-342900" defTabSz="179388">
              <a:buClr>
                <a:srgbClr val="00DEE6"/>
              </a:buClr>
              <a:buFont typeface="Arial" panose="020B0604020202020204" pitchFamily="34" charset="0"/>
              <a:buAutoNum type="arabicPeriod" startAt="19"/>
            </a:pPr>
            <a:r>
              <a:rPr lang="en-US" sz="1600">
                <a:latin typeface="+mn-lt"/>
              </a:rPr>
              <a:t>What is pull request?</a:t>
            </a:r>
            <a:endParaRPr lang="da-DK" sz="1600">
              <a:latin typeface="+mn-lt"/>
            </a:endParaRPr>
          </a:p>
          <a:p>
            <a:pPr marL="342900" indent="-342900" defTabSz="179388">
              <a:buClr>
                <a:srgbClr val="00DEE6"/>
              </a:buClr>
              <a:buFont typeface="Arial" panose="020B0604020202020204" pitchFamily="34" charset="0"/>
              <a:buAutoNum type="arabicPeriod" startAt="19"/>
            </a:pPr>
            <a:r>
              <a:rPr lang="en-US" sz="1600">
                <a:latin typeface="+mn-lt"/>
              </a:rPr>
              <a:t>Practice 5</a:t>
            </a:r>
          </a:p>
          <a:p>
            <a:pPr marL="342900" indent="-342900" defTabSz="179388">
              <a:buClr>
                <a:srgbClr val="00DEE6"/>
              </a:buClr>
              <a:buFont typeface="Arial" panose="020B0604020202020204" pitchFamily="34" charset="0"/>
              <a:buAutoNum type="arabicPeriod" startAt="19"/>
            </a:pPr>
            <a:r>
              <a:rPr lang="en-US" sz="1600">
                <a:latin typeface="+mn-lt"/>
              </a:rPr>
              <a:t>What is a git stash​?</a:t>
            </a:r>
          </a:p>
          <a:p>
            <a:pPr marL="342900" indent="-342900" defTabSz="179388">
              <a:buClr>
                <a:srgbClr val="00DEE6"/>
              </a:buClr>
              <a:buFont typeface="Arial" panose="020B0604020202020204" pitchFamily="34" charset="0"/>
              <a:buAutoNum type="arabicPeriod" startAt="19"/>
            </a:pPr>
            <a:endParaRPr lang="en-US" sz="1600">
              <a:latin typeface="+mn-lt"/>
            </a:endParaRPr>
          </a:p>
          <a:p>
            <a:pPr marL="342900" indent="-342900" defTabSz="179388">
              <a:buClr>
                <a:srgbClr val="00DEE6"/>
              </a:buClr>
              <a:buFont typeface="Arial" panose="020B0604020202020204" pitchFamily="34" charset="0"/>
              <a:buAutoNum type="arabicPeriod" startAt="19"/>
            </a:pPr>
            <a:endParaRPr lang="en-US" sz="1600">
              <a:latin typeface="+mn-lt"/>
            </a:endParaRPr>
          </a:p>
        </p:txBody>
      </p:sp>
    </p:spTree>
    <p:extLst>
      <p:ext uri="{BB962C8B-B14F-4D97-AF65-F5344CB8AC3E}">
        <p14:creationId xmlns:p14="http://schemas.microsoft.com/office/powerpoint/2010/main" val="73879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What IS git?</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b="0" i="0">
                <a:solidFill>
                  <a:srgbClr val="000000"/>
                </a:solidFill>
                <a:effectLst/>
                <a:latin typeface="Arial" panose="020B0604020202020204" pitchFamily="34" charset="0"/>
              </a:rPr>
              <a:t>version control system</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lgn="l" rtl="0" fontAlgn="base">
              <a:buNone/>
            </a:pPr>
            <a:r>
              <a:rPr lang="en-US" b="1" i="0" u="none" strike="noStrike">
                <a:effectLst/>
                <a:latin typeface="Arial"/>
                <a:cs typeface="Calibri"/>
              </a:rPr>
              <a:t>Git</a:t>
            </a:r>
            <a:r>
              <a:rPr lang="en-US" b="0" i="0" u="none" strike="noStrike">
                <a:solidFill>
                  <a:srgbClr val="000000"/>
                </a:solidFill>
                <a:effectLst/>
                <a:latin typeface="Arial"/>
                <a:cs typeface="Calibri"/>
              </a:rPr>
              <a:t> is a free and </a:t>
            </a:r>
            <a:r>
              <a:rPr lang="en-US">
                <a:solidFill>
                  <a:srgbClr val="000000"/>
                </a:solidFill>
                <a:latin typeface="Arial"/>
                <a:cs typeface="Calibri"/>
              </a:rPr>
              <a:t>open-source</a:t>
            </a:r>
            <a:r>
              <a:rPr lang="en-US" b="0" i="0" u="none" strike="noStrike">
                <a:solidFill>
                  <a:srgbClr val="000000"/>
                </a:solidFill>
                <a:effectLst/>
                <a:latin typeface="Arial"/>
                <a:cs typeface="Calibri"/>
              </a:rPr>
              <a:t> distributed version control system designed to handle everything from small to very large projects with speed and efficiency.</a:t>
            </a: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a:solidFill>
                <a:srgbClr val="000000"/>
              </a:solidFill>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endParaRPr lang="en-US" b="0" i="0" u="none" strike="noStrike">
              <a:solidFill>
                <a:srgbClr val="000000"/>
              </a:solidFill>
              <a:effectLst/>
              <a:latin typeface="Arial" panose="020B0604020202020204" pitchFamily="34" charset="0"/>
            </a:endParaRPr>
          </a:p>
          <a:p>
            <a:pPr marL="0" indent="0" algn="l" rtl="0" fontAlgn="base">
              <a:buNone/>
            </a:pPr>
            <a:r>
              <a:rPr lang="en-US" b="0" i="0" u="none" strike="noStrike">
                <a:solidFill>
                  <a:srgbClr val="000000"/>
                </a:solidFill>
                <a:effectLst/>
                <a:latin typeface="Arial"/>
                <a:cs typeface="Calibri"/>
              </a:rPr>
              <a:t>Clients fully mirror the repository that lives on the server, including its full history (maintain a </a:t>
            </a:r>
            <a:r>
              <a:rPr lang="en-US" b="1" i="0" u="none" strike="noStrike">
                <a:solidFill>
                  <a:srgbClr val="000000"/>
                </a:solidFill>
                <a:effectLst/>
                <a:latin typeface="Arial"/>
                <a:cs typeface="Calibri"/>
              </a:rPr>
              <a:t>clone</a:t>
            </a:r>
            <a:r>
              <a:rPr lang="en-US" b="0" i="0" u="none" strike="noStrike">
                <a:solidFill>
                  <a:srgbClr val="000000"/>
                </a:solidFill>
                <a:effectLst/>
                <a:latin typeface="Arial"/>
                <a:cs typeface="Calibri"/>
              </a:rPr>
              <a:t>)​</a:t>
            </a:r>
            <a:endParaRPr lang="en-US" b="0" i="0">
              <a:solidFill>
                <a:srgbClr val="000000"/>
              </a:solidFill>
              <a:effectLst/>
              <a:latin typeface="Arial"/>
              <a:cs typeface="Calibri"/>
            </a:endParaRPr>
          </a:p>
        </p:txBody>
      </p:sp>
      <p:pic>
        <p:nvPicPr>
          <p:cNvPr id="1026" name="Picture 2" descr="What Is Git | Explore A Distributed Version Control Tool | Edureka">
            <a:extLst>
              <a:ext uri="{FF2B5EF4-FFF2-40B4-BE49-F238E27FC236}">
                <a16:creationId xmlns:a16="http://schemas.microsoft.com/office/drawing/2014/main" id="{428D77ED-55F9-4D16-879B-DABE3E57A1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46152" y="2221950"/>
            <a:ext cx="5699696" cy="37695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US"/>
              <a:t>GIT tools</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r>
              <a:rPr lang="en-US" b="0" i="0">
                <a:solidFill>
                  <a:srgbClr val="000000"/>
                </a:solidFill>
                <a:effectLst/>
                <a:latin typeface="Arial" panose="020B0604020202020204" pitchFamily="34" charset="0"/>
              </a:rPr>
              <a:t>version control system</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lgn="l" rtl="0" fontAlgn="base">
              <a:buNone/>
            </a:pPr>
            <a:r>
              <a:rPr lang="en-US" b="0" i="0" u="none" strike="noStrike">
                <a:solidFill>
                  <a:srgbClr val="000000"/>
                </a:solidFill>
                <a:effectLst/>
                <a:latin typeface="Arial" panose="020B0604020202020204" pitchFamily="34" charset="0"/>
              </a:rPr>
              <a:t>You can pick your tools when working with git, options include:​​</a:t>
            </a:r>
            <a:r>
              <a:rPr lang="en-US" b="0" i="0">
                <a:solidFill>
                  <a:srgbClr val="000000"/>
                </a:solidFill>
                <a:effectLst/>
                <a:latin typeface="Arial" panose="020B0604020202020204" pitchFamily="34" charset="0"/>
              </a:rPr>
              <a:t>​</a:t>
            </a:r>
            <a:endParaRPr lang="en-US" b="0" i="0">
              <a:solidFill>
                <a:srgbClr val="000000"/>
              </a:solidFill>
              <a:effectLst/>
              <a:latin typeface="Segoe UI" panose="020B0502040204020203" pitchFamily="34" charset="0"/>
            </a:endParaRPr>
          </a:p>
          <a:p>
            <a:pPr lvl="1"/>
            <a:r>
              <a:rPr lang="en-US" b="0" i="0" u="none" strike="noStrike">
                <a:solidFill>
                  <a:srgbClr val="000000"/>
                </a:solidFill>
                <a:effectLst/>
                <a:latin typeface="Arial" panose="020B0604020202020204" pitchFamily="34" charset="0"/>
              </a:rPr>
              <a:t>the command line​</a:t>
            </a:r>
            <a:r>
              <a:rPr lang="en-US" b="0" i="0">
                <a:solidFill>
                  <a:srgbClr val="000000"/>
                </a:solidFill>
                <a:effectLst/>
                <a:latin typeface="Arial" panose="020B0604020202020204" pitchFamily="34" charset="0"/>
              </a:rPr>
              <a:t>​</a:t>
            </a:r>
          </a:p>
          <a:p>
            <a:pPr lvl="1"/>
            <a:r>
              <a:rPr lang="en-US" b="0" i="0" u="none" strike="noStrike">
                <a:solidFill>
                  <a:srgbClr val="000000"/>
                </a:solidFill>
                <a:effectLst/>
                <a:latin typeface="Arial" panose="020B0604020202020204" pitchFamily="34" charset="0"/>
              </a:rPr>
              <a:t>Visual studio </a:t>
            </a:r>
            <a:r>
              <a:rPr lang="en-US" b="0" i="0" u="sng" strike="noStrike">
                <a:solidFill>
                  <a:srgbClr val="00C8FF"/>
                </a:solidFill>
                <a:effectLst/>
                <a:latin typeface="Arial" panose="020B0604020202020204" pitchFamily="34" charset="0"/>
                <a:hlinkClick r:id="rId2"/>
              </a:rPr>
              <a:t>built-in client</a:t>
            </a:r>
            <a:r>
              <a:rPr lang="en-US" b="0" i="0" u="none" strike="noStrike">
                <a:solidFill>
                  <a:srgbClr val="000000"/>
                </a:solidFill>
                <a:effectLst/>
                <a:latin typeface="Arial" panose="020B0604020202020204" pitchFamily="34" charset="0"/>
              </a:rPr>
              <a:t>​</a:t>
            </a:r>
            <a:r>
              <a:rPr lang="en-US" b="0" i="0">
                <a:solidFill>
                  <a:srgbClr val="000000"/>
                </a:solidFill>
                <a:effectLst/>
                <a:latin typeface="Arial" panose="020B0604020202020204" pitchFamily="34" charset="0"/>
              </a:rPr>
              <a:t>​</a:t>
            </a:r>
          </a:p>
          <a:p>
            <a:pPr lvl="1"/>
            <a:r>
              <a:rPr lang="en-US" b="0" i="0" u="none" strike="noStrike">
                <a:solidFill>
                  <a:srgbClr val="000000"/>
                </a:solidFill>
                <a:effectLst/>
                <a:latin typeface="Arial" panose="020B0604020202020204" pitchFamily="34" charset="0"/>
              </a:rPr>
              <a:t>Various GUI Clients </a:t>
            </a:r>
            <a:r>
              <a:rPr lang="en-US" b="0" i="0" u="sng" strike="noStrike">
                <a:solidFill>
                  <a:srgbClr val="00C8FF"/>
                </a:solidFill>
                <a:effectLst/>
                <a:latin typeface="Arial" panose="020B0604020202020204" pitchFamily="34" charset="0"/>
                <a:hlinkClick r:id="rId3"/>
              </a:rPr>
              <a:t>(list)</a:t>
            </a:r>
            <a:r>
              <a:rPr lang="en-US" b="0" i="0" u="none" strike="noStrike">
                <a:solidFill>
                  <a:srgbClr val="000000"/>
                </a:solidFill>
                <a:effectLst/>
                <a:latin typeface="Arial" panose="020B0604020202020204" pitchFamily="34" charset="0"/>
              </a:rPr>
              <a:t>​</a:t>
            </a:r>
            <a:endParaRPr lang="en-US" b="0" i="0">
              <a:solidFill>
                <a:srgbClr val="000000"/>
              </a:solidFill>
              <a:effectLst/>
              <a:latin typeface="Arial" panose="020B0604020202020204" pitchFamily="34" charset="0"/>
            </a:endParaRPr>
          </a:p>
          <a:p>
            <a:pPr lvl="1">
              <a:spcAft>
                <a:spcPts val="600"/>
              </a:spcAft>
            </a:pPr>
            <a:endParaRPr lang="da-DK"/>
          </a:p>
        </p:txBody>
      </p:sp>
      <p:pic>
        <p:nvPicPr>
          <p:cNvPr id="2052" name="Picture 4" descr="What is Git Bash and How to Install it on Windows? - Appuals.com">
            <a:extLst>
              <a:ext uri="{FF2B5EF4-FFF2-40B4-BE49-F238E27FC236}">
                <a16:creationId xmlns:a16="http://schemas.microsoft.com/office/drawing/2014/main" id="{03A3A589-1FC5-453F-ACC9-5FD16BEE89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0662" y="2397967"/>
            <a:ext cx="2459502" cy="13092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C9912AD-D543-41CB-9185-324DC839AE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83551" y="4054684"/>
            <a:ext cx="1887789" cy="188778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839DA7C-798F-45DE-80C0-A73A559384E0}"/>
              </a:ext>
            </a:extLst>
          </p:cNvPr>
          <p:cNvPicPr>
            <a:picLocks noChangeAspect="1"/>
          </p:cNvPicPr>
          <p:nvPr/>
        </p:nvPicPr>
        <p:blipFill>
          <a:blip r:embed="rId6"/>
          <a:stretch>
            <a:fillRect/>
          </a:stretch>
        </p:blipFill>
        <p:spPr>
          <a:xfrm>
            <a:off x="6776921" y="2271485"/>
            <a:ext cx="5143791" cy="1562250"/>
          </a:xfrm>
          <a:prstGeom prst="rect">
            <a:avLst/>
          </a:prstGeom>
          <a:ln>
            <a:solidFill>
              <a:schemeClr val="bg2">
                <a:lumMod val="50000"/>
              </a:schemeClr>
            </a:solidFill>
          </a:ln>
        </p:spPr>
      </p:pic>
    </p:spTree>
    <p:extLst>
      <p:ext uri="{BB962C8B-B14F-4D97-AF65-F5344CB8AC3E}">
        <p14:creationId xmlns:p14="http://schemas.microsoft.com/office/powerpoint/2010/main" val="3657803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REPOSITORY?</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8"/>
          </p:nvPr>
        </p:nvSpPr>
        <p:spPr>
          <a:xfrm>
            <a:off x="671513" y="1620838"/>
            <a:ext cx="5340350" cy="4568825"/>
          </a:xfrm>
        </p:spPr>
        <p:txBody>
          <a:bodyPr>
            <a:normAutofit/>
          </a:bodyPr>
          <a:lstStyle/>
          <a:p>
            <a:pPr marL="0" indent="0" rtl="0" fontAlgn="base">
              <a:lnSpc>
                <a:spcPct val="90000"/>
              </a:lnSpc>
              <a:buNone/>
            </a:pPr>
            <a:r>
              <a:rPr lang="en-US" b="1" i="0" u="none" strike="noStrike">
                <a:effectLst/>
              </a:rPr>
              <a:t>Local Repository: </a:t>
            </a:r>
            <a:r>
              <a:rPr lang="en-US" b="1" i="0">
                <a:effectLst/>
              </a:rPr>
              <a:t>​</a:t>
            </a:r>
          </a:p>
          <a:p>
            <a:pPr rtl="0" fontAlgn="base">
              <a:lnSpc>
                <a:spcPct val="90000"/>
              </a:lnSpc>
            </a:pPr>
            <a:r>
              <a:rPr lang="en-US" b="0" i="0" u="none" strike="noStrike">
                <a:effectLst/>
              </a:rPr>
              <a:t>User’s local copy of the repository, with all files and their revision history​</a:t>
            </a:r>
            <a:r>
              <a:rPr lang="en-US" b="0" i="0">
                <a:effectLst/>
              </a:rPr>
              <a:t>​</a:t>
            </a:r>
          </a:p>
          <a:p>
            <a:pPr marL="0" indent="0" rtl="0" fontAlgn="base">
              <a:lnSpc>
                <a:spcPct val="90000"/>
              </a:lnSpc>
              <a:buNone/>
            </a:pPr>
            <a:endParaRPr lang="en-US" b="0" i="0">
              <a:effectLst/>
            </a:endParaRPr>
          </a:p>
          <a:p>
            <a:pPr marL="0" indent="0" rtl="0" fontAlgn="base">
              <a:lnSpc>
                <a:spcPct val="90000"/>
              </a:lnSpc>
              <a:buNone/>
            </a:pPr>
            <a:r>
              <a:rPr lang="en-US" b="1" i="0" u="none" strike="noStrike">
                <a:effectLst/>
              </a:rPr>
              <a:t>Remote Repository: </a:t>
            </a:r>
            <a:r>
              <a:rPr lang="en-US" b="0" i="0" u="none" strike="noStrike">
                <a:effectLst/>
              </a:rPr>
              <a:t>​</a:t>
            </a:r>
            <a:r>
              <a:rPr lang="en-US" b="0" i="0">
                <a:effectLst/>
              </a:rPr>
              <a:t>​</a:t>
            </a:r>
          </a:p>
          <a:p>
            <a:pPr rtl="0" fontAlgn="base">
              <a:lnSpc>
                <a:spcPct val="90000"/>
              </a:lnSpc>
            </a:pPr>
            <a:r>
              <a:rPr lang="en-US" b="0" i="0" u="none" strike="noStrike">
                <a:effectLst/>
              </a:rPr>
              <a:t>a server where all the collaborators upload their changes​</a:t>
            </a:r>
            <a:endParaRPr lang="en-US"/>
          </a:p>
          <a:p>
            <a:pPr rtl="0" fontAlgn="base">
              <a:lnSpc>
                <a:spcPct val="90000"/>
              </a:lnSpc>
            </a:pPr>
            <a:endParaRPr lang="en-US" b="0" i="0">
              <a:effectLst/>
            </a:endParaRPr>
          </a:p>
          <a:p>
            <a:pPr marL="0" indent="0" rtl="0" fontAlgn="base">
              <a:lnSpc>
                <a:spcPct val="90000"/>
              </a:lnSpc>
              <a:buNone/>
            </a:pPr>
            <a:r>
              <a:rPr lang="en-US" b="0" i="1" u="none" strike="noStrike">
                <a:effectLst/>
              </a:rPr>
              <a:t>You do all the work on your local repository, then you update the remote with your changes (and get the changes of your teammates from the remote)</a:t>
            </a:r>
            <a:r>
              <a:rPr lang="en-US" b="0" i="0" u="none" strike="noStrike">
                <a:effectLst/>
              </a:rPr>
              <a:t>​</a:t>
            </a:r>
            <a:endParaRPr lang="en-US" b="0" i="0">
              <a:effectLst/>
            </a:endParaRPr>
          </a:p>
          <a:p>
            <a:pPr lvl="1">
              <a:lnSpc>
                <a:spcPct val="90000"/>
              </a:lnSpc>
              <a:spcAft>
                <a:spcPts val="600"/>
              </a:spcAft>
            </a:pPr>
            <a:endParaRPr lang="da-DK" sz="1800"/>
          </a:p>
        </p:txBody>
      </p:sp>
      <p:pic>
        <p:nvPicPr>
          <p:cNvPr id="3074" name="Picture 2" descr="Introduction to Remote Repositories | Learn Version Control with Git">
            <a:extLst>
              <a:ext uri="{FF2B5EF4-FFF2-40B4-BE49-F238E27FC236}">
                <a16:creationId xmlns:a16="http://schemas.microsoft.com/office/drawing/2014/main" id="{EC8EF150-99BC-4F17-B4F0-81CE00CA08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78550" y="1655628"/>
            <a:ext cx="5340350" cy="4499244"/>
          </a:xfrm>
          <a:prstGeom prst="rect">
            <a:avLst/>
          </a:prstGeom>
          <a:solidFill>
            <a:srgbClr val="FFFFFF"/>
          </a:solidFill>
        </p:spPr>
      </p:pic>
    </p:spTree>
    <p:extLst>
      <p:ext uri="{BB962C8B-B14F-4D97-AF65-F5344CB8AC3E}">
        <p14:creationId xmlns:p14="http://schemas.microsoft.com/office/powerpoint/2010/main" val="2734050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B65CE2-9CB1-4D62-B543-37A75D33BA5F}"/>
              </a:ext>
            </a:extLst>
          </p:cNvPr>
          <p:cNvSpPr>
            <a:spLocks noGrp="1"/>
          </p:cNvSpPr>
          <p:nvPr>
            <p:ph type="title"/>
          </p:nvPr>
        </p:nvSpPr>
        <p:spPr>
          <a:xfrm>
            <a:off x="649139" y="5393"/>
            <a:ext cx="10878759" cy="1052738"/>
          </a:xfrm>
        </p:spPr>
        <p:txBody>
          <a:bodyPr wrap="square" anchor="b">
            <a:normAutofit/>
          </a:bodyPr>
          <a:lstStyle/>
          <a:p>
            <a:r>
              <a:rPr lang="en-US" err="1"/>
              <a:t>gnoring</a:t>
            </a:r>
            <a:r>
              <a:rPr lang="en-US"/>
              <a:t> files</a:t>
            </a:r>
            <a:endParaRPr lang="da-DK"/>
          </a:p>
        </p:txBody>
      </p:sp>
      <p:sp>
        <p:nvSpPr>
          <p:cNvPr id="3" name="Slide Number Placeholder 2">
            <a:extLst>
              <a:ext uri="{FF2B5EF4-FFF2-40B4-BE49-F238E27FC236}">
                <a16:creationId xmlns:a16="http://schemas.microsoft.com/office/drawing/2014/main" id="{7FEFA802-75E5-43BC-9EE7-5A69CF00E13A}"/>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6</a:t>
            </a:fld>
            <a:endParaRPr lang="da-DK"/>
          </a:p>
        </p:txBody>
      </p:sp>
      <p:sp>
        <p:nvSpPr>
          <p:cNvPr id="6" name="Text Placeholder 5">
            <a:extLst>
              <a:ext uri="{FF2B5EF4-FFF2-40B4-BE49-F238E27FC236}">
                <a16:creationId xmlns:a16="http://schemas.microsoft.com/office/drawing/2014/main" id="{B1BA2E2F-9433-426D-8553-64CA081E46F7}"/>
              </a:ext>
            </a:extLst>
          </p:cNvPr>
          <p:cNvSpPr>
            <a:spLocks noGrp="1"/>
          </p:cNvSpPr>
          <p:nvPr>
            <p:ph type="body" sz="quarter" idx="17"/>
          </p:nvPr>
        </p:nvSpPr>
        <p:spPr>
          <a:xfrm>
            <a:off x="670985" y="1056000"/>
            <a:ext cx="10850033" cy="402384"/>
          </a:xfrm>
        </p:spPr>
        <p:txBody>
          <a:bodyPr anchor="t">
            <a:normAutofit/>
          </a:bodyPr>
          <a:lstStyle/>
          <a:p>
            <a:r>
              <a:rPr lang="en-US"/>
              <a:t>The .gitignore file</a:t>
            </a:r>
            <a:endParaRPr lang="da-DK"/>
          </a:p>
        </p:txBody>
      </p:sp>
      <p:pic>
        <p:nvPicPr>
          <p:cNvPr id="4" name="Picture 3">
            <a:extLst>
              <a:ext uri="{FF2B5EF4-FFF2-40B4-BE49-F238E27FC236}">
                <a16:creationId xmlns:a16="http://schemas.microsoft.com/office/drawing/2014/main" id="{7581F809-1C32-4881-9A13-0C94D1D731FE}"/>
              </a:ext>
            </a:extLst>
          </p:cNvPr>
          <p:cNvPicPr>
            <a:picLocks noChangeAspect="1"/>
          </p:cNvPicPr>
          <p:nvPr/>
        </p:nvPicPr>
        <p:blipFill rotWithShape="1">
          <a:blip r:embed="rId3"/>
          <a:srcRect t="470"/>
          <a:stretch/>
        </p:blipFill>
        <p:spPr>
          <a:xfrm>
            <a:off x="649139" y="1539025"/>
            <a:ext cx="5340350" cy="3631438"/>
          </a:xfrm>
          <a:prstGeom prst="rect">
            <a:avLst/>
          </a:prstGeom>
          <a:noFill/>
        </p:spPr>
      </p:pic>
      <p:sp>
        <p:nvSpPr>
          <p:cNvPr id="7" name="Content Placeholder 6">
            <a:extLst>
              <a:ext uri="{FF2B5EF4-FFF2-40B4-BE49-F238E27FC236}">
                <a16:creationId xmlns:a16="http://schemas.microsoft.com/office/drawing/2014/main" id="{B5A70125-AD90-43F7-B00E-91DEAB096B78}"/>
              </a:ext>
            </a:extLst>
          </p:cNvPr>
          <p:cNvSpPr>
            <a:spLocks noGrp="1"/>
          </p:cNvSpPr>
          <p:nvPr>
            <p:ph sz="quarter" idx="19"/>
          </p:nvPr>
        </p:nvSpPr>
        <p:spPr>
          <a:xfrm>
            <a:off x="6178550" y="1620838"/>
            <a:ext cx="5340350" cy="4568825"/>
          </a:xfrm>
        </p:spPr>
        <p:txBody>
          <a:bodyPr>
            <a:normAutofit/>
          </a:bodyPr>
          <a:lstStyle/>
          <a:p>
            <a:pPr marL="0" indent="0">
              <a:buNone/>
            </a:pPr>
            <a:r>
              <a:rPr lang="en-US"/>
              <a:t>There are files that we don’t ever want to commit, for example our </a:t>
            </a:r>
            <a:r>
              <a:rPr lang="en-US" i="1"/>
              <a:t>.</a:t>
            </a:r>
            <a:r>
              <a:rPr lang="en-US" i="1" err="1"/>
              <a:t>suo</a:t>
            </a:r>
            <a:r>
              <a:rPr lang="en-US"/>
              <a:t> file in Visual Studio, temporary files, our bin folder etc. </a:t>
            </a:r>
          </a:p>
          <a:p>
            <a:pPr marL="0" indent="0">
              <a:buNone/>
            </a:pPr>
            <a:r>
              <a:rPr lang="en-US"/>
              <a:t>We can tell git to ignore them and not track them by using the </a:t>
            </a:r>
            <a:r>
              <a:rPr lang="en-US" b="1"/>
              <a:t>.</a:t>
            </a:r>
            <a:r>
              <a:rPr lang="en-US" b="1" err="1"/>
              <a:t>gitignore</a:t>
            </a:r>
            <a:r>
              <a:rPr lang="en-US" b="1"/>
              <a:t> </a:t>
            </a:r>
            <a:r>
              <a:rPr lang="en-US"/>
              <a:t>file. These files will not appear as modified when there are changes.</a:t>
            </a:r>
          </a:p>
          <a:p>
            <a:pPr marL="0" indent="0">
              <a:buNone/>
            </a:pPr>
            <a:r>
              <a:rPr lang="en-US" i="1"/>
              <a:t>There is a pre-setup </a:t>
            </a:r>
            <a:r>
              <a:rPr lang="en-US" b="1" i="1"/>
              <a:t>.</a:t>
            </a:r>
            <a:r>
              <a:rPr lang="en-US" b="1" i="1" err="1"/>
              <a:t>gitignore</a:t>
            </a:r>
            <a:r>
              <a:rPr lang="en-US" i="1"/>
              <a:t> file specifically for Visual Studio </a:t>
            </a:r>
            <a:r>
              <a:rPr lang="en-US" i="1">
                <a:hlinkClick r:id="rId4"/>
              </a:rPr>
              <a:t>here</a:t>
            </a:r>
            <a:r>
              <a:rPr lang="en-US" i="1"/>
              <a:t> that we can use and customize it if needed</a:t>
            </a:r>
          </a:p>
        </p:txBody>
      </p:sp>
      <p:sp>
        <p:nvSpPr>
          <p:cNvPr id="8" name="Right Brace 7">
            <a:extLst>
              <a:ext uri="{FF2B5EF4-FFF2-40B4-BE49-F238E27FC236}">
                <a16:creationId xmlns:a16="http://schemas.microsoft.com/office/drawing/2014/main" id="{E12D9F97-04EF-4A7E-8040-C04D724375F9}"/>
              </a:ext>
            </a:extLst>
          </p:cNvPr>
          <p:cNvSpPr/>
          <p:nvPr/>
        </p:nvSpPr>
        <p:spPr>
          <a:xfrm>
            <a:off x="3181739" y="2575249"/>
            <a:ext cx="186612" cy="853751"/>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9" name="Right Brace 8">
            <a:extLst>
              <a:ext uri="{FF2B5EF4-FFF2-40B4-BE49-F238E27FC236}">
                <a16:creationId xmlns:a16="http://schemas.microsoft.com/office/drawing/2014/main" id="{0B9C5B2F-24B0-4BF2-BBFD-3D3DE931D71B}"/>
              </a:ext>
            </a:extLst>
          </p:cNvPr>
          <p:cNvSpPr/>
          <p:nvPr/>
        </p:nvSpPr>
        <p:spPr>
          <a:xfrm>
            <a:off x="3181739" y="4316712"/>
            <a:ext cx="186612" cy="853751"/>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D405EDA9-7177-4812-A5D4-CF655A45E8C8}"/>
              </a:ext>
            </a:extLst>
          </p:cNvPr>
          <p:cNvSpPr txBox="1"/>
          <p:nvPr/>
        </p:nvSpPr>
        <p:spPr>
          <a:xfrm>
            <a:off x="3532472" y="2868328"/>
            <a:ext cx="1953928" cy="27913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Ignore file extensions</a:t>
            </a:r>
          </a:p>
        </p:txBody>
      </p:sp>
      <p:sp>
        <p:nvSpPr>
          <p:cNvPr id="11" name="TextBox 10">
            <a:extLst>
              <a:ext uri="{FF2B5EF4-FFF2-40B4-BE49-F238E27FC236}">
                <a16:creationId xmlns:a16="http://schemas.microsoft.com/office/drawing/2014/main" id="{325DC5F0-87E0-4B7E-8FF4-B32433CAA92E}"/>
              </a:ext>
            </a:extLst>
          </p:cNvPr>
          <p:cNvSpPr txBox="1"/>
          <p:nvPr/>
        </p:nvSpPr>
        <p:spPr>
          <a:xfrm>
            <a:off x="3532472" y="4604020"/>
            <a:ext cx="1953928" cy="27913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Ignore directories</a:t>
            </a:r>
          </a:p>
        </p:txBody>
      </p:sp>
    </p:spTree>
    <p:extLst>
      <p:ext uri="{BB962C8B-B14F-4D97-AF65-F5344CB8AC3E}">
        <p14:creationId xmlns:p14="http://schemas.microsoft.com/office/powerpoint/2010/main" val="1491330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1</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LOCAL/REMOTE REPOSITORY</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vert="horz" lIns="0" tIns="0" rIns="0" bIns="0" rtlCol="0" anchor="t">
            <a:noAutofit/>
          </a:bodyPr>
          <a:lstStyle/>
          <a:p>
            <a:pPr marL="342900" indent="-342900">
              <a:buFont typeface="+mj-lt"/>
              <a:buAutoNum type="arabicPeriod"/>
            </a:pPr>
            <a:r>
              <a:rPr lang="en-US">
                <a:cs typeface="Calibri"/>
              </a:rPr>
              <a:t>Create an empty console application (.NET Framework) – </a:t>
            </a:r>
            <a:r>
              <a:rPr lang="en-US" b="1" err="1">
                <a:cs typeface="Calibri"/>
              </a:rPr>
              <a:t>MyConsoleApplication</a:t>
            </a:r>
            <a:endParaRPr lang="en-US" b="1">
              <a:cs typeface="Calibri"/>
            </a:endParaRPr>
          </a:p>
          <a:p>
            <a:pPr marL="342900" indent="-342900">
              <a:buFont typeface="+mj-lt"/>
              <a:buAutoNum type="arabicPeriod"/>
            </a:pPr>
            <a:r>
              <a:rPr lang="en-US">
                <a:cs typeface="Calibri"/>
              </a:rPr>
              <a:t>Add .</a:t>
            </a:r>
            <a:r>
              <a:rPr lang="en-US" b="1" err="1">
                <a:cs typeface="Calibri"/>
              </a:rPr>
              <a:t>gitignore</a:t>
            </a:r>
            <a:r>
              <a:rPr lang="en-US">
                <a:cs typeface="Calibri"/>
              </a:rPr>
              <a:t> file and fill it with default settings for </a:t>
            </a:r>
            <a:r>
              <a:rPr lang="en-US" b="1">
                <a:cs typeface="Calibri"/>
              </a:rPr>
              <a:t>Visual Studio</a:t>
            </a:r>
            <a:r>
              <a:rPr lang="en-US">
                <a:cs typeface="Calibri"/>
              </a:rPr>
              <a:t> - </a:t>
            </a:r>
            <a:r>
              <a:rPr lang="en-US">
                <a:cs typeface="Calibri"/>
                <a:hlinkClick r:id="rId3"/>
              </a:rPr>
              <a:t>link</a:t>
            </a:r>
            <a:endParaRPr lang="en-US">
              <a:cs typeface="Calibri"/>
            </a:endParaRPr>
          </a:p>
          <a:p>
            <a:pPr marL="342900" indent="-342900">
              <a:buFont typeface="+mj-lt"/>
              <a:buAutoNum type="arabicPeriod"/>
            </a:pPr>
            <a:r>
              <a:rPr lang="en-US">
                <a:cs typeface="Calibri"/>
              </a:rPr>
              <a:t>Add your solution to </a:t>
            </a:r>
            <a:r>
              <a:rPr lang="en-US" b="1">
                <a:cs typeface="Calibri"/>
              </a:rPr>
              <a:t>GitHub</a:t>
            </a:r>
          </a:p>
          <a:p>
            <a:pPr marL="379095" lvl="1"/>
            <a:r>
              <a:rPr lang="en-US">
                <a:cs typeface="Calibri"/>
              </a:rPr>
              <a:t>Create a new repository - </a:t>
            </a:r>
            <a:r>
              <a:rPr lang="en-US">
                <a:cs typeface="Calibri"/>
                <a:hlinkClick r:id="rId4"/>
              </a:rPr>
              <a:t>https://github.com/new</a:t>
            </a:r>
            <a:endParaRPr lang="en-US">
              <a:cs typeface="Calibri"/>
            </a:endParaRPr>
          </a:p>
          <a:p>
            <a:pPr marL="379095" lvl="1"/>
            <a:r>
              <a:rPr lang="en-US">
                <a:cs typeface="Calibri"/>
              </a:rPr>
              <a:t>Repository name - </a:t>
            </a:r>
            <a:r>
              <a:rPr lang="en-US" b="1" err="1">
                <a:cs typeface="Calibri"/>
              </a:rPr>
              <a:t>MyConsoleApplication</a:t>
            </a:r>
            <a:endParaRPr lang="en-US">
              <a:cs typeface="Calibri"/>
            </a:endParaRPr>
          </a:p>
          <a:p>
            <a:pPr marL="379095" lvl="1"/>
            <a:r>
              <a:rPr lang="en-US">
                <a:cs typeface="Calibri"/>
              </a:rPr>
              <a:t>Push a new repository to remote, please be aware to execute git commands in the root directory of your </a:t>
            </a:r>
            <a:r>
              <a:rPr lang="en-US" b="1">
                <a:cs typeface="Calibri"/>
              </a:rPr>
              <a:t>solution</a:t>
            </a:r>
          </a:p>
          <a:p>
            <a:pPr marL="198120" lvl="1" indent="0">
              <a:buNone/>
            </a:pPr>
            <a:r>
              <a:rPr lang="en-US" sz="1400" b="1">
                <a:cs typeface="Calibri"/>
              </a:rPr>
              <a:t>git </a:t>
            </a:r>
            <a:r>
              <a:rPr lang="en-US" sz="1400" b="1" err="1">
                <a:cs typeface="Calibri"/>
              </a:rPr>
              <a:t>init</a:t>
            </a:r>
            <a:endParaRPr lang="en-US" sz="1400" b="1">
              <a:cs typeface="Calibri"/>
            </a:endParaRPr>
          </a:p>
          <a:p>
            <a:pPr marL="198120" lvl="1" indent="0">
              <a:buNone/>
            </a:pPr>
            <a:r>
              <a:rPr lang="en-US" sz="1400" b="1">
                <a:cs typeface="Calibri"/>
              </a:rPr>
              <a:t>git add .</a:t>
            </a:r>
          </a:p>
          <a:p>
            <a:pPr marL="198120" lvl="1" indent="0">
              <a:buNone/>
            </a:pPr>
            <a:r>
              <a:rPr lang="en-US" sz="1400" b="1">
                <a:cs typeface="Calibri"/>
              </a:rPr>
              <a:t>git commit -m "first commit"</a:t>
            </a:r>
          </a:p>
          <a:p>
            <a:pPr marL="198120" lvl="1" indent="0">
              <a:buNone/>
            </a:pPr>
            <a:r>
              <a:rPr lang="en-US" sz="1400" b="1">
                <a:cs typeface="Calibri"/>
              </a:rPr>
              <a:t>git remote add origin https://github.com/XXXX/MyConsoleApplication.git</a:t>
            </a:r>
          </a:p>
          <a:p>
            <a:pPr marL="198120" lvl="1" indent="0">
              <a:buNone/>
            </a:pPr>
            <a:r>
              <a:rPr lang="en-US" sz="1400" b="1">
                <a:cs typeface="Calibri"/>
              </a:rPr>
              <a:t>git push –u origin master</a:t>
            </a:r>
          </a:p>
          <a:p>
            <a:pPr marL="379095" lvl="1"/>
            <a:endParaRPr lang="en-US" b="1"/>
          </a:p>
          <a:p>
            <a:pPr marL="379095" lvl="1"/>
            <a:endParaRPr lang="en-US" b="1"/>
          </a:p>
          <a:p>
            <a:pPr marL="379095" lvl="1"/>
            <a:endParaRPr lang="en-US" b="1"/>
          </a:p>
          <a:p>
            <a:pPr marL="379095" lvl="1"/>
            <a:endParaRPr lang="en-US" b="1"/>
          </a:p>
          <a:p>
            <a:pPr marL="379095" lvl="1"/>
            <a:r>
              <a:rPr lang="en-US">
                <a:ea typeface="Calibri"/>
                <a:cs typeface="Calibri"/>
              </a:rPr>
              <a:t>ream</a:t>
            </a:r>
            <a:endParaRPr lang="en-US"/>
          </a:p>
          <a:p>
            <a:pPr marL="198120" lvl="1" indent="0">
              <a:buNone/>
            </a:pPr>
            <a:endParaRPr lang="en-US"/>
          </a:p>
          <a:p>
            <a:pPr marL="198120" lvl="1" indent="0">
              <a:buNone/>
            </a:pPr>
            <a:endParaRPr lang="en-US" b="1"/>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43128" y="73497"/>
            <a:ext cx="914400" cy="914400"/>
          </a:xfrm>
          <a:prstGeom prst="rect">
            <a:avLst/>
          </a:prstGeom>
        </p:spPr>
      </p:pic>
      <p:grpSp>
        <p:nvGrpSpPr>
          <p:cNvPr id="10" name="Group 9">
            <a:extLst>
              <a:ext uri="{FF2B5EF4-FFF2-40B4-BE49-F238E27FC236}">
                <a16:creationId xmlns:a16="http://schemas.microsoft.com/office/drawing/2014/main" id="{036075BE-2466-455A-9D81-C04482AB657D}"/>
              </a:ext>
            </a:extLst>
          </p:cNvPr>
          <p:cNvGrpSpPr/>
          <p:nvPr/>
        </p:nvGrpSpPr>
        <p:grpSpPr>
          <a:xfrm>
            <a:off x="7811814" y="4133876"/>
            <a:ext cx="3555123" cy="1754835"/>
            <a:chOff x="7811814" y="4133876"/>
            <a:chExt cx="3555123" cy="1754835"/>
          </a:xfrm>
        </p:grpSpPr>
        <p:sp>
          <p:nvSpPr>
            <p:cNvPr id="6" name="Right Brace 5">
              <a:extLst>
                <a:ext uri="{FF2B5EF4-FFF2-40B4-BE49-F238E27FC236}">
                  <a16:creationId xmlns:a16="http://schemas.microsoft.com/office/drawing/2014/main" id="{E0E6AB7E-1BB5-4BE2-B066-38AF02C2F3E2}"/>
                </a:ext>
              </a:extLst>
            </p:cNvPr>
            <p:cNvSpPr/>
            <p:nvPr/>
          </p:nvSpPr>
          <p:spPr>
            <a:xfrm>
              <a:off x="7811814" y="4133877"/>
              <a:ext cx="331076" cy="1754834"/>
            </a:xfrm>
            <a:prstGeom prst="righ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FAF9FCF9-5EB4-4E16-8169-6D00A78DC50C}"/>
                </a:ext>
              </a:extLst>
            </p:cNvPr>
            <p:cNvSpPr txBox="1"/>
            <p:nvPr/>
          </p:nvSpPr>
          <p:spPr>
            <a:xfrm>
              <a:off x="8269013" y="4133876"/>
              <a:ext cx="3097924" cy="1754834"/>
            </a:xfrm>
            <a:prstGeom prst="rect">
              <a:avLst/>
            </a:prstGeom>
            <a:noFill/>
          </p:spPr>
          <p:txBody>
            <a:bodyPr wrap="square" lIns="0" tIns="0" rIns="0" bIns="0" rtlCol="0">
              <a:noAutofit/>
            </a:bodyPr>
            <a:lstStyle/>
            <a:p>
              <a:pPr marL="285750" indent="-285750" defTabSz="179388">
                <a:lnSpc>
                  <a:spcPct val="150000"/>
                </a:lnSpc>
                <a:buClr>
                  <a:srgbClr val="00DEE6"/>
                </a:buClr>
                <a:buFontTx/>
                <a:buChar char="-"/>
              </a:pPr>
              <a:r>
                <a:rPr lang="en-GB" sz="1600">
                  <a:latin typeface="+mn-lt"/>
                </a:rPr>
                <a:t>initialize local repository</a:t>
              </a:r>
            </a:p>
            <a:p>
              <a:pPr marL="285750" indent="-285750" defTabSz="179388">
                <a:lnSpc>
                  <a:spcPct val="150000"/>
                </a:lnSpc>
                <a:buClr>
                  <a:srgbClr val="00DEE6"/>
                </a:buClr>
                <a:buFontTx/>
                <a:buChar char="-"/>
              </a:pPr>
              <a:r>
                <a:rPr lang="en-GB" sz="1600">
                  <a:latin typeface="+mn-lt"/>
                </a:rPr>
                <a:t>stage all files</a:t>
              </a:r>
            </a:p>
            <a:p>
              <a:pPr marL="285750" indent="-285750" defTabSz="179388">
                <a:lnSpc>
                  <a:spcPct val="150000"/>
                </a:lnSpc>
                <a:buClr>
                  <a:srgbClr val="00DEE6"/>
                </a:buClr>
                <a:buFontTx/>
                <a:buChar char="-"/>
              </a:pPr>
              <a:r>
                <a:rPr lang="en-GB" sz="1600">
                  <a:latin typeface="+mn-lt"/>
                </a:rPr>
                <a:t>commit staged data</a:t>
              </a:r>
            </a:p>
            <a:p>
              <a:pPr marL="285750" indent="-285750" defTabSz="179388">
                <a:lnSpc>
                  <a:spcPct val="150000"/>
                </a:lnSpc>
                <a:buClr>
                  <a:srgbClr val="00DEE6"/>
                </a:buClr>
                <a:buFontTx/>
                <a:buChar char="-"/>
              </a:pPr>
              <a:r>
                <a:rPr lang="en-GB" sz="1600">
                  <a:latin typeface="+mn-lt"/>
                </a:rPr>
                <a:t>bind remote repository</a:t>
              </a:r>
            </a:p>
            <a:p>
              <a:pPr marL="285750" indent="-285750" defTabSz="179388">
                <a:lnSpc>
                  <a:spcPct val="150000"/>
                </a:lnSpc>
                <a:buClr>
                  <a:srgbClr val="00DEE6"/>
                </a:buClr>
                <a:buFontTx/>
                <a:buChar char="-"/>
              </a:pPr>
              <a:r>
                <a:rPr lang="en-GB" sz="1600">
                  <a:latin typeface="+mn-lt"/>
                </a:rPr>
                <a:t>push committed data to remote</a:t>
              </a:r>
              <a:endParaRPr lang="en-US" sz="1600" err="1">
                <a:latin typeface="+mn-lt"/>
              </a:endParaRPr>
            </a:p>
          </p:txBody>
        </p:sp>
      </p:grpSp>
    </p:spTree>
    <p:extLst>
      <p:ext uri="{BB962C8B-B14F-4D97-AF65-F5344CB8AC3E}">
        <p14:creationId xmlns:p14="http://schemas.microsoft.com/office/powerpoint/2010/main" val="236350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8</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52132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THE THREE STATES OF A FILE IN GIT​</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68867" y="1620838"/>
            <a:ext cx="10850033" cy="4568825"/>
          </a:xfrm>
        </p:spPr>
        <p:txBody>
          <a:bodyPr>
            <a:normAutofit/>
          </a:bodyPr>
          <a:lstStyle/>
          <a:p>
            <a:pPr rtl="0" fontAlgn="base">
              <a:lnSpc>
                <a:spcPct val="90000"/>
              </a:lnSpc>
              <a:buFont typeface="Arial" panose="020B0604020202020204" pitchFamily="34" charset="0"/>
              <a:buChar char="•"/>
            </a:pPr>
            <a:r>
              <a:rPr lang="en-US" sz="1600" b="1" i="0" u="none" strike="noStrike">
                <a:effectLst/>
              </a:rPr>
              <a:t>Modified</a:t>
            </a:r>
            <a:r>
              <a:rPr lang="en-US" sz="1600" b="0" i="0" u="none" strike="noStrike">
                <a:effectLst/>
              </a:rPr>
              <a:t>: we simply make a change to a file and save it, then it is in modified state​</a:t>
            </a:r>
            <a:r>
              <a:rPr lang="en-US" sz="1600" b="0" i="0">
                <a:effectLst/>
              </a:rPr>
              <a:t>​</a:t>
            </a:r>
          </a:p>
          <a:p>
            <a:pPr rtl="0" fontAlgn="base">
              <a:lnSpc>
                <a:spcPct val="90000"/>
              </a:lnSpc>
              <a:buFont typeface="Arial" panose="020B0604020202020204" pitchFamily="34" charset="0"/>
              <a:buChar char="•"/>
            </a:pPr>
            <a:r>
              <a:rPr lang="en-US" sz="1600" b="1" i="0" u="none" strike="noStrike">
                <a:effectLst/>
              </a:rPr>
              <a:t>Staged</a:t>
            </a:r>
            <a:r>
              <a:rPr lang="en-US" sz="1600" i="0" u="none" strike="noStrike">
                <a:effectLst/>
              </a:rPr>
              <a:t>:</a:t>
            </a:r>
            <a:r>
              <a:rPr lang="en-US" sz="1600" b="0" i="0" u="none" strike="noStrike">
                <a:effectLst/>
              </a:rPr>
              <a:t> we mark a modified file to be included in the next commit (using git add or git stage)​</a:t>
            </a:r>
            <a:r>
              <a:rPr lang="en-US" sz="1600" b="0" i="0">
                <a:effectLst/>
              </a:rPr>
              <a:t>​</a:t>
            </a:r>
          </a:p>
          <a:p>
            <a:pPr rtl="0" fontAlgn="base">
              <a:lnSpc>
                <a:spcPct val="90000"/>
              </a:lnSpc>
              <a:buFont typeface="Arial" panose="020B0604020202020204" pitchFamily="34" charset="0"/>
              <a:buChar char="•"/>
            </a:pPr>
            <a:r>
              <a:rPr lang="en-US" sz="1600" b="1" i="0" u="none" strike="noStrike">
                <a:effectLst/>
              </a:rPr>
              <a:t>Committed</a:t>
            </a:r>
            <a:r>
              <a:rPr lang="en-US" sz="1600" b="0" i="0" u="none" strike="noStrike">
                <a:effectLst/>
              </a:rPr>
              <a:t>: we use the commit command and then this change is stored in the local repository database</a:t>
            </a:r>
            <a:endParaRPr lang="en-US" sz="1600" b="0" i="0">
              <a:effectLst/>
            </a:endParaRPr>
          </a:p>
          <a:p>
            <a:pPr marL="0" indent="0" rtl="0" fontAlgn="base">
              <a:lnSpc>
                <a:spcPct val="90000"/>
              </a:lnSpc>
              <a:buNone/>
            </a:pPr>
            <a:endParaRPr lang="en-US" sz="1600" b="0" i="0">
              <a:effectLst/>
            </a:endParaRPr>
          </a:p>
          <a:p>
            <a:pPr marL="0" indent="0" rtl="0" fontAlgn="base">
              <a:lnSpc>
                <a:spcPct val="90000"/>
              </a:lnSpc>
              <a:buNone/>
            </a:pPr>
            <a:r>
              <a:rPr lang="en-US" sz="1600" b="0" i="1" u="none" strike="noStrike">
                <a:effectLst/>
              </a:rPr>
              <a:t>You do all the work on your local repository, then you update the remote with your changes (and get the changes of your teammates from the remote)</a:t>
            </a:r>
            <a:r>
              <a:rPr lang="en-US" sz="1600" b="0" i="0" u="none" strike="noStrike">
                <a:effectLst/>
              </a:rPr>
              <a:t>​</a:t>
            </a:r>
            <a:endParaRPr lang="en-US" sz="1600" b="0" i="0">
              <a:effectLst/>
            </a:endParaRPr>
          </a:p>
          <a:p>
            <a:pPr lvl="1">
              <a:lnSpc>
                <a:spcPct val="90000"/>
              </a:lnSpc>
              <a:spcAft>
                <a:spcPts val="600"/>
              </a:spcAft>
            </a:pPr>
            <a:endParaRPr lang="da-DK"/>
          </a:p>
        </p:txBody>
      </p:sp>
    </p:spTree>
    <p:extLst>
      <p:ext uri="{BB962C8B-B14F-4D97-AF65-F5344CB8AC3E}">
        <p14:creationId xmlns:p14="http://schemas.microsoft.com/office/powerpoint/2010/main" val="2067793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THREE MAIN SECTIONS OF A GIT PROJECT​</a:t>
            </a:r>
            <a:endParaRPr lang="da-DK"/>
          </a:p>
        </p:txBody>
      </p:sp>
      <p:pic>
        <p:nvPicPr>
          <p:cNvPr id="11" name="Graphic 10">
            <a:extLst>
              <a:ext uri="{FF2B5EF4-FFF2-40B4-BE49-F238E27FC236}">
                <a16:creationId xmlns:a16="http://schemas.microsoft.com/office/drawing/2014/main" id="{872C7640-06B5-4188-B80E-F7C3BFDC73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608997" y="3084409"/>
            <a:ext cx="5002734" cy="3269716"/>
          </a:xfrm>
          <a:prstGeom prst="rect">
            <a:avLst/>
          </a:prstGeom>
        </p:spPr>
      </p:pic>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working tree</a:t>
            </a:r>
            <a:r>
              <a:rPr lang="en-US" sz="1600" b="0" i="0" u="none" strike="noStrike">
                <a:solidFill>
                  <a:srgbClr val="000000"/>
                </a:solidFill>
                <a:effectLst/>
                <a:latin typeface="Arial" panose="020B0604020202020204" pitchFamily="34" charset="0"/>
              </a:rPr>
              <a:t>: a checkout of one version of the project. ​</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staging area (or the index)</a:t>
            </a:r>
            <a:r>
              <a:rPr lang="en-US" sz="1600" b="0" i="0" u="none" strike="noStrike">
                <a:solidFill>
                  <a:srgbClr val="000000"/>
                </a:solidFill>
                <a:effectLst/>
                <a:latin typeface="Arial" panose="020B0604020202020204" pitchFamily="34" charset="0"/>
              </a:rPr>
              <a:t>: a file that stores information about what will go into your next commit ​</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The Git directory</a:t>
            </a:r>
            <a:r>
              <a:rPr lang="en-US" sz="1600" b="0" i="0" u="none" strike="noStrike">
                <a:solidFill>
                  <a:srgbClr val="000000"/>
                </a:solidFill>
                <a:effectLst/>
                <a:latin typeface="Arial" panose="020B0604020202020204" pitchFamily="34" charset="0"/>
              </a:rPr>
              <a:t>: a directory with all the project metadata and the object database.</a:t>
            </a:r>
            <a:endParaRPr lang="en-US" sz="1600"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609409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LOCAL/REMOTE REPOSITORY​</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GIT DIFF COMMAND</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a:t>
            </a:r>
            <a:r>
              <a:rPr lang="en-US" sz="1600" i="0" u="none" strike="noStrike">
                <a:solidFill>
                  <a:srgbClr val="000000"/>
                </a:solidFill>
                <a:effectLst/>
                <a:latin typeface="Arial" panose="020B0604020202020204" pitchFamily="34" charset="0"/>
              </a:rPr>
              <a:t>View difference between Stage and Working Directory</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--staged </a:t>
            </a:r>
            <a:r>
              <a:rPr lang="en-US" sz="1600" i="0" u="none" strike="noStrike">
                <a:solidFill>
                  <a:srgbClr val="000000"/>
                </a:solidFill>
                <a:effectLst/>
                <a:latin typeface="Arial" panose="020B0604020202020204" pitchFamily="34" charset="0"/>
              </a:rPr>
              <a:t>View difference between HEAD and Stage</a:t>
            </a:r>
          </a:p>
          <a:p>
            <a:pPr algn="l" rtl="0" fontAlgn="base">
              <a:buFont typeface="Arial" panose="020B0604020202020204" pitchFamily="34" charset="0"/>
              <a:buChar char="•"/>
            </a:pPr>
            <a:r>
              <a:rPr lang="en-US" sz="1600" b="1" i="0" u="none" strike="noStrike">
                <a:solidFill>
                  <a:srgbClr val="000000"/>
                </a:solidFill>
                <a:effectLst/>
                <a:latin typeface="Arial" panose="020B0604020202020204" pitchFamily="34" charset="0"/>
              </a:rPr>
              <a:t>git diff HEAD </a:t>
            </a:r>
            <a:r>
              <a:rPr lang="en-US" sz="1600" i="0" u="none" strike="noStrike">
                <a:solidFill>
                  <a:srgbClr val="000000"/>
                </a:solidFill>
                <a:effectLst/>
                <a:latin typeface="Arial" panose="020B0604020202020204" pitchFamily="34" charset="0"/>
              </a:rPr>
              <a:t>View difference between HEAD and Working Directory</a:t>
            </a:r>
            <a:endParaRPr lang="en-US" sz="1600" i="0">
              <a:solidFill>
                <a:srgbClr val="000000"/>
              </a:solidFill>
              <a:effectLst/>
              <a:latin typeface="Arial" panose="020B0604020202020204" pitchFamily="34" charset="0"/>
            </a:endParaRPr>
          </a:p>
        </p:txBody>
      </p:sp>
      <p:pic>
        <p:nvPicPr>
          <p:cNvPr id="8" name="Picture 7">
            <a:extLst>
              <a:ext uri="{FF2B5EF4-FFF2-40B4-BE49-F238E27FC236}">
                <a16:creationId xmlns:a16="http://schemas.microsoft.com/office/drawing/2014/main" id="{390ABEEE-B4CC-4C43-8A77-4096E726E094}"/>
              </a:ext>
            </a:extLst>
          </p:cNvPr>
          <p:cNvPicPr>
            <a:picLocks noChangeAspect="1"/>
          </p:cNvPicPr>
          <p:nvPr/>
        </p:nvPicPr>
        <p:blipFill>
          <a:blip r:embed="rId2"/>
          <a:stretch>
            <a:fillRect/>
          </a:stretch>
        </p:blipFill>
        <p:spPr>
          <a:xfrm>
            <a:off x="2772283" y="2795052"/>
            <a:ext cx="6647434" cy="3667242"/>
          </a:xfrm>
          <a:prstGeom prst="rect">
            <a:avLst/>
          </a:prstGeom>
        </p:spPr>
      </p:pic>
    </p:spTree>
    <p:extLst>
      <p:ext uri="{BB962C8B-B14F-4D97-AF65-F5344CB8AC3E}">
        <p14:creationId xmlns:p14="http://schemas.microsoft.com/office/powerpoint/2010/main" val="552157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“SAVING” YOUR CHANGES​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COMMIT​?</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l" rtl="0" fontAlgn="base">
              <a:buNone/>
            </a:pPr>
            <a:r>
              <a:rPr lang="en-US" sz="1600" b="1" i="0" u="none" strike="noStrike">
                <a:solidFill>
                  <a:srgbClr val="000000"/>
                </a:solidFill>
                <a:effectLst/>
                <a:latin typeface="Arial" panose="020B0604020202020204" pitchFamily="34" charset="0"/>
              </a:rPr>
              <a:t>Commit</a:t>
            </a:r>
            <a:r>
              <a:rPr lang="en-US" sz="1600" b="0" i="0" u="none" strike="noStrike">
                <a:solidFill>
                  <a:srgbClr val="000000"/>
                </a:solidFill>
                <a:effectLst/>
                <a:latin typeface="Arial" panose="020B0604020202020204" pitchFamily="34" charset="0"/>
              </a:rPr>
              <a:t>: a saved </a:t>
            </a:r>
            <a:r>
              <a:rPr lang="en-US" sz="1600" b="0" i="1" u="none" strike="noStrike">
                <a:solidFill>
                  <a:srgbClr val="000000"/>
                </a:solidFill>
                <a:effectLst/>
                <a:latin typeface="Arial" panose="020B0604020202020204" pitchFamily="34" charset="0"/>
              </a:rPr>
              <a:t>snapshot </a:t>
            </a:r>
            <a:r>
              <a:rPr lang="en-US" sz="1600" b="0" i="0" u="none" strike="noStrike">
                <a:solidFill>
                  <a:srgbClr val="000000"/>
                </a:solidFill>
                <a:effectLst/>
                <a:latin typeface="Arial" panose="020B0604020202020204" pitchFamily="34" charset="0"/>
              </a:rPr>
              <a:t>of the repo with a set of changes in one or more files</a:t>
            </a:r>
            <a:r>
              <a:rPr lang="en-US" sz="16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Making a commit = saving the </a:t>
            </a:r>
            <a:r>
              <a:rPr lang="en-US" sz="1400" b="1" i="0" u="none" strike="noStrike">
                <a:solidFill>
                  <a:srgbClr val="000000"/>
                </a:solidFill>
                <a:effectLst/>
                <a:latin typeface="Arial" panose="020B0604020202020204" pitchFamily="34" charset="0"/>
              </a:rPr>
              <a:t>staged </a:t>
            </a:r>
            <a:r>
              <a:rPr lang="en-US" sz="1400" b="0" i="0" u="none" strike="noStrike">
                <a:solidFill>
                  <a:srgbClr val="000000"/>
                </a:solidFill>
                <a:effectLst/>
                <a:latin typeface="Arial" panose="020B0604020202020204" pitchFamily="34" charset="0"/>
              </a:rPr>
              <a:t>changes</a:t>
            </a:r>
            <a:r>
              <a:rPr lang="en-US" sz="14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each commit has a unique id (“hash”) and includes author, timestamp and a message</a:t>
            </a:r>
            <a:r>
              <a:rPr lang="en-US" sz="1400" b="0" i="0">
                <a:solidFill>
                  <a:srgbClr val="000000"/>
                </a:solidFill>
                <a:effectLst/>
                <a:latin typeface="Arial" panose="020B0604020202020204" pitchFamily="34" charset="0"/>
              </a:rPr>
              <a:t>​</a:t>
            </a:r>
          </a:p>
          <a:p>
            <a:pPr lvl="1"/>
            <a:r>
              <a:rPr lang="en-US" sz="1400" b="0" i="0" u="none" strike="noStrike">
                <a:solidFill>
                  <a:srgbClr val="000000"/>
                </a:solidFill>
                <a:effectLst/>
                <a:latin typeface="Arial" panose="020B0604020202020204" pitchFamily="34" charset="0"/>
              </a:rPr>
              <a:t>The commit’s </a:t>
            </a:r>
            <a:r>
              <a:rPr lang="en-US" sz="1400" b="0" i="1" u="none" strike="noStrike">
                <a:solidFill>
                  <a:srgbClr val="000000"/>
                </a:solidFill>
                <a:effectLst/>
                <a:latin typeface="Arial" panose="020B0604020202020204" pitchFamily="34" charset="0"/>
              </a:rPr>
              <a:t>parent</a:t>
            </a:r>
            <a:r>
              <a:rPr lang="en-US" sz="1400" b="0" i="0" u="none" strike="noStrike">
                <a:solidFill>
                  <a:srgbClr val="000000"/>
                </a:solidFill>
                <a:effectLst/>
                <a:latin typeface="Arial" panose="020B0604020202020204" pitchFamily="34" charset="0"/>
              </a:rPr>
              <a:t>: the commit on top of which the commit is applied</a:t>
            </a:r>
          </a:p>
          <a:p>
            <a:pPr algn="l" rtl="0" fontAlgn="base">
              <a:buFont typeface="Arial" panose="020B0604020202020204" pitchFamily="34" charset="0"/>
              <a:buChar char="•"/>
            </a:pPr>
            <a:endParaRPr lang="en-US" sz="1600">
              <a:solidFill>
                <a:srgbClr val="000000"/>
              </a:solidFill>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pic>
        <p:nvPicPr>
          <p:cNvPr id="8" name="Picture 7">
            <a:extLst>
              <a:ext uri="{FF2B5EF4-FFF2-40B4-BE49-F238E27FC236}">
                <a16:creationId xmlns:a16="http://schemas.microsoft.com/office/drawing/2014/main" id="{86005B94-1BCE-4065-AAE1-C3641AE324BA}"/>
              </a:ext>
            </a:extLst>
          </p:cNvPr>
          <p:cNvPicPr>
            <a:picLocks noChangeAspect="1"/>
          </p:cNvPicPr>
          <p:nvPr/>
        </p:nvPicPr>
        <p:blipFill>
          <a:blip r:embed="rId3"/>
          <a:stretch>
            <a:fillRect/>
          </a:stretch>
        </p:blipFill>
        <p:spPr>
          <a:xfrm>
            <a:off x="4244462" y="3276702"/>
            <a:ext cx="7392235" cy="2525298"/>
          </a:xfrm>
          <a:prstGeom prst="rect">
            <a:avLst/>
          </a:prstGeom>
        </p:spPr>
      </p:pic>
    </p:spTree>
    <p:extLst>
      <p:ext uri="{BB962C8B-B14F-4D97-AF65-F5344CB8AC3E}">
        <p14:creationId xmlns:p14="http://schemas.microsoft.com/office/powerpoint/2010/main" val="359172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2</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COMMIT</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a:t>Modify the Main method in your project by adding: </a:t>
            </a:r>
            <a:r>
              <a:rPr lang="da-DK" sz="1800" err="1">
                <a:solidFill>
                  <a:srgbClr val="2B91AF"/>
                </a:solidFill>
                <a:latin typeface="Consolas" panose="020B0609020204030204" pitchFamily="49" charset="0"/>
              </a:rPr>
              <a:t>Console</a:t>
            </a:r>
            <a:r>
              <a:rPr lang="da-DK" sz="1800" err="1">
                <a:solidFill>
                  <a:srgbClr val="000000"/>
                </a:solidFill>
                <a:latin typeface="Consolas" panose="020B0609020204030204" pitchFamily="49" charset="0"/>
              </a:rPr>
              <a:t>.WriteLine</a:t>
            </a:r>
            <a:r>
              <a:rPr lang="da-DK" sz="1800">
                <a:solidFill>
                  <a:srgbClr val="000000"/>
                </a:solidFill>
                <a:latin typeface="Consolas" panose="020B0609020204030204" pitchFamily="49" charset="0"/>
              </a:rPr>
              <a:t>(</a:t>
            </a:r>
            <a:r>
              <a:rPr lang="da-DK" sz="1800">
                <a:solidFill>
                  <a:srgbClr val="A31515"/>
                </a:solidFill>
                <a:latin typeface="Consolas" panose="020B0609020204030204" pitchFamily="49" charset="0"/>
              </a:rPr>
              <a:t>"</a:t>
            </a:r>
            <a:r>
              <a:rPr lang="da-DK" sz="1800" err="1">
                <a:solidFill>
                  <a:srgbClr val="A31515"/>
                </a:solidFill>
                <a:latin typeface="Consolas" panose="020B0609020204030204" pitchFamily="49" charset="0"/>
              </a:rPr>
              <a:t>Hello</a:t>
            </a:r>
            <a:r>
              <a:rPr lang="da-DK" sz="1800">
                <a:solidFill>
                  <a:srgbClr val="A31515"/>
                </a:solidFill>
                <a:latin typeface="Consolas" panose="020B0609020204030204" pitchFamily="49" charset="0"/>
              </a:rPr>
              <a:t> </a:t>
            </a:r>
            <a:r>
              <a:rPr lang="da-DK" sz="1800" err="1">
                <a:solidFill>
                  <a:srgbClr val="A31515"/>
                </a:solidFill>
                <a:latin typeface="Consolas" panose="020B0609020204030204" pitchFamily="49" charset="0"/>
              </a:rPr>
              <a:t>world</a:t>
            </a:r>
            <a:r>
              <a:rPr lang="da-DK" sz="1800">
                <a:solidFill>
                  <a:srgbClr val="A31515"/>
                </a:solidFill>
                <a:latin typeface="Consolas" panose="020B0609020204030204" pitchFamily="49" charset="0"/>
              </a:rPr>
              <a:t>!"</a:t>
            </a:r>
            <a:r>
              <a:rPr lang="da-DK" sz="1800">
                <a:solidFill>
                  <a:srgbClr val="000000"/>
                </a:solidFill>
                <a:latin typeface="Consolas" panose="020B0609020204030204" pitchFamily="49" charset="0"/>
              </a:rPr>
              <a:t>);</a:t>
            </a:r>
            <a:endParaRPr lang="en-US" sz="2000">
              <a:solidFill>
                <a:srgbClr val="000000"/>
              </a:solidFill>
              <a:latin typeface="Consolas" panose="020B0609020204030204" pitchFamily="49" charset="0"/>
            </a:endParaRPr>
          </a:p>
          <a:p>
            <a:pPr marL="352425" indent="-342900">
              <a:buFont typeface="+mj-lt"/>
              <a:buAutoNum type="arabicPeriod"/>
            </a:pPr>
            <a:r>
              <a:rPr lang="en-US" sz="2000"/>
              <a:t>Execute </a:t>
            </a:r>
            <a:r>
              <a:rPr lang="en-US" sz="2000" b="1"/>
              <a:t>git status</a:t>
            </a:r>
            <a:r>
              <a:rPr lang="en-US" sz="2000"/>
              <a:t> command in the root directory of your solution.</a:t>
            </a:r>
          </a:p>
          <a:p>
            <a:pPr marL="541338" lvl="1" indent="-342900"/>
            <a:r>
              <a:rPr lang="en-US" sz="1800"/>
              <a:t>What is the status for </a:t>
            </a:r>
            <a:r>
              <a:rPr lang="en-US" sz="1800" err="1"/>
              <a:t>Program.cs</a:t>
            </a:r>
            <a:r>
              <a:rPr lang="en-US" sz="1800"/>
              <a:t> file?</a:t>
            </a:r>
          </a:p>
          <a:p>
            <a:pPr marL="541338" lvl="1" indent="-342900"/>
            <a:r>
              <a:rPr lang="en-US" sz="1800"/>
              <a:t>Can you commit changes at this moment by using </a:t>
            </a:r>
            <a:r>
              <a:rPr lang="en-US" sz="1800" b="1"/>
              <a:t>git commit –m ‘commit message’</a:t>
            </a:r>
            <a:r>
              <a:rPr lang="en-US" sz="1800"/>
              <a:t>?</a:t>
            </a:r>
          </a:p>
          <a:p>
            <a:pPr marL="466725" indent="-457200">
              <a:buFont typeface="+mj-lt"/>
              <a:buAutoNum type="arabicPeriod"/>
            </a:pPr>
            <a:r>
              <a:rPr lang="en-US" sz="2000"/>
              <a:t>Execute </a:t>
            </a:r>
            <a:r>
              <a:rPr lang="en-US" sz="2000" b="1"/>
              <a:t>git diff </a:t>
            </a:r>
            <a:r>
              <a:rPr lang="en-US" sz="2000"/>
              <a:t>command. </a:t>
            </a:r>
            <a:r>
              <a:rPr lang="en-US" sz="1800"/>
              <a:t>Can you see the difference between initial and modified file?</a:t>
            </a:r>
            <a:endParaRPr lang="en-US" sz="1800" b="1"/>
          </a:p>
          <a:p>
            <a:pPr marL="466725" indent="-457200">
              <a:buFont typeface="+mj-lt"/>
              <a:buAutoNum type="arabicPeriod"/>
            </a:pPr>
            <a:r>
              <a:rPr lang="en-US" sz="2000"/>
              <a:t>Stage the changes by executing </a:t>
            </a:r>
            <a:r>
              <a:rPr lang="en-US" sz="2000" b="1"/>
              <a:t>git add .</a:t>
            </a:r>
          </a:p>
          <a:p>
            <a:pPr marL="541338" lvl="1" indent="-342900"/>
            <a:r>
              <a:rPr lang="en-US" sz="1800"/>
              <a:t>Try to execute </a:t>
            </a:r>
            <a:r>
              <a:rPr lang="en-US" sz="1800" b="1"/>
              <a:t>git status</a:t>
            </a:r>
            <a:r>
              <a:rPr lang="en-US" sz="1800"/>
              <a:t> and </a:t>
            </a:r>
            <a:r>
              <a:rPr lang="en-US" sz="1800" b="1"/>
              <a:t>git diff</a:t>
            </a:r>
            <a:r>
              <a:rPr lang="en-US" sz="1800"/>
              <a:t> again, has something changed?</a:t>
            </a:r>
          </a:p>
          <a:p>
            <a:pPr marL="541338" lvl="1" indent="-342900"/>
            <a:r>
              <a:rPr lang="en-US" sz="1800"/>
              <a:t>Try to execute </a:t>
            </a:r>
            <a:r>
              <a:rPr lang="en-US" sz="1800" b="1"/>
              <a:t>git diff Head</a:t>
            </a:r>
            <a:r>
              <a:rPr lang="en-US" sz="1800"/>
              <a:t>. Can you see the difference now?</a:t>
            </a:r>
            <a:endParaRPr lang="en-US" sz="1800" b="1"/>
          </a:p>
          <a:p>
            <a:pPr marL="457200" indent="-457200">
              <a:buFont typeface="+mj-lt"/>
              <a:buAutoNum type="arabicPeriod"/>
            </a:pPr>
            <a:r>
              <a:rPr lang="en-US" sz="2000"/>
              <a:t>Commit the changes</a:t>
            </a:r>
          </a:p>
          <a:p>
            <a:pPr marL="457200" indent="-457200">
              <a:buFont typeface="+mj-lt"/>
              <a:buAutoNum type="arabicPeriod"/>
            </a:pPr>
            <a:r>
              <a:rPr lang="en-US" sz="2000"/>
              <a:t>Check the remote repository, has something changed?</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270875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14</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871190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D500191-25E5-4665-8B62-A7EEAADDEA3F}"/>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6" name="Text Placeholder 5">
            <a:extLst>
              <a:ext uri="{FF2B5EF4-FFF2-40B4-BE49-F238E27FC236}">
                <a16:creationId xmlns:a16="http://schemas.microsoft.com/office/drawing/2014/main" id="{467D1A31-C0CB-43F6-A664-28274BAE5661}"/>
              </a:ext>
            </a:extLst>
          </p:cNvPr>
          <p:cNvSpPr>
            <a:spLocks noGrp="1"/>
          </p:cNvSpPr>
          <p:nvPr>
            <p:ph type="body" sz="quarter" idx="17"/>
          </p:nvPr>
        </p:nvSpPr>
        <p:spPr/>
        <p:txBody>
          <a:bodyPr/>
          <a:lstStyle/>
          <a:p>
            <a:r>
              <a:rPr lang="en-US"/>
              <a:t>Upload changes</a:t>
            </a:r>
            <a:endParaRPr lang="da-DK"/>
          </a:p>
        </p:txBody>
      </p:sp>
      <p:sp>
        <p:nvSpPr>
          <p:cNvPr id="5" name="Title 4">
            <a:extLst>
              <a:ext uri="{FF2B5EF4-FFF2-40B4-BE49-F238E27FC236}">
                <a16:creationId xmlns:a16="http://schemas.microsoft.com/office/drawing/2014/main" id="{35B26731-6108-4F12-BF63-A151886231C1}"/>
              </a:ext>
            </a:extLst>
          </p:cNvPr>
          <p:cNvSpPr>
            <a:spLocks noGrp="1"/>
          </p:cNvSpPr>
          <p:nvPr>
            <p:ph type="title"/>
          </p:nvPr>
        </p:nvSpPr>
        <p:spPr/>
        <p:txBody>
          <a:bodyPr/>
          <a:lstStyle/>
          <a:p>
            <a:r>
              <a:rPr lang="en-US"/>
              <a:t>“Sync” with the remote 1</a:t>
            </a:r>
            <a:endParaRPr lang="da-DK"/>
          </a:p>
        </p:txBody>
      </p:sp>
      <p:sp>
        <p:nvSpPr>
          <p:cNvPr id="7" name="Content Placeholder 6">
            <a:extLst>
              <a:ext uri="{FF2B5EF4-FFF2-40B4-BE49-F238E27FC236}">
                <a16:creationId xmlns:a16="http://schemas.microsoft.com/office/drawing/2014/main" id="{4563BACE-C0F8-4EBF-8F2E-9622E6602BE2}"/>
              </a:ext>
            </a:extLst>
          </p:cNvPr>
          <p:cNvSpPr>
            <a:spLocks noGrp="1"/>
          </p:cNvSpPr>
          <p:nvPr>
            <p:ph sz="quarter" idx="19"/>
          </p:nvPr>
        </p:nvSpPr>
        <p:spPr/>
        <p:txBody>
          <a:bodyPr/>
          <a:lstStyle/>
          <a:p>
            <a:pPr marL="0" indent="0">
              <a:buNone/>
            </a:pPr>
            <a:r>
              <a:rPr lang="en-US" b="1"/>
              <a:t>Push</a:t>
            </a:r>
            <a:r>
              <a:rPr lang="en-US"/>
              <a:t>: transfer the changes from your local branch to the remote repository (will only upload the committed changes)</a:t>
            </a:r>
          </a:p>
          <a:p>
            <a:endParaRPr lang="en-US"/>
          </a:p>
          <a:p>
            <a:endParaRPr lang="en-US"/>
          </a:p>
          <a:p>
            <a:endParaRPr lang="en-US"/>
          </a:p>
          <a:p>
            <a:endParaRPr lang="en-US"/>
          </a:p>
          <a:p>
            <a:endParaRPr lang="en-US"/>
          </a:p>
          <a:p>
            <a:endParaRPr lang="en-US"/>
          </a:p>
          <a:p>
            <a:endParaRPr lang="en-US"/>
          </a:p>
          <a:p>
            <a:pPr marL="0" indent="0">
              <a:buNone/>
            </a:pPr>
            <a:endParaRPr lang="en-US">
              <a:hlinkClick r:id="" action="ppaction://noaction"/>
            </a:endParaRPr>
          </a:p>
          <a:p>
            <a:pPr marL="0" indent="0">
              <a:buNone/>
            </a:pPr>
            <a:endParaRPr lang="en-US"/>
          </a:p>
          <a:p>
            <a:endParaRPr lang="da-DK"/>
          </a:p>
        </p:txBody>
      </p:sp>
      <p:sp>
        <p:nvSpPr>
          <p:cNvPr id="8" name="Arrow: Right 7">
            <a:extLst>
              <a:ext uri="{FF2B5EF4-FFF2-40B4-BE49-F238E27FC236}">
                <a16:creationId xmlns:a16="http://schemas.microsoft.com/office/drawing/2014/main" id="{49F00A1D-C98A-4A53-B813-CC8E25A46B41}"/>
              </a:ext>
            </a:extLst>
          </p:cNvPr>
          <p:cNvSpPr/>
          <p:nvPr/>
        </p:nvSpPr>
        <p:spPr>
          <a:xfrm>
            <a:off x="4385989" y="3750290"/>
            <a:ext cx="2460670"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commit</a:t>
            </a:r>
          </a:p>
        </p:txBody>
      </p:sp>
      <p:sp>
        <p:nvSpPr>
          <p:cNvPr id="9" name="Arrow: Right 8">
            <a:extLst>
              <a:ext uri="{FF2B5EF4-FFF2-40B4-BE49-F238E27FC236}">
                <a16:creationId xmlns:a16="http://schemas.microsoft.com/office/drawing/2014/main" id="{1F2BEC08-45EA-46B8-9CC7-039D617CEBD7}"/>
              </a:ext>
            </a:extLst>
          </p:cNvPr>
          <p:cNvSpPr/>
          <p:nvPr/>
        </p:nvSpPr>
        <p:spPr>
          <a:xfrm>
            <a:off x="1969477" y="3060097"/>
            <a:ext cx="2416512"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add/stage</a:t>
            </a:r>
          </a:p>
        </p:txBody>
      </p:sp>
      <p:sp>
        <p:nvSpPr>
          <p:cNvPr id="10" name="Arrow: Right 9">
            <a:extLst>
              <a:ext uri="{FF2B5EF4-FFF2-40B4-BE49-F238E27FC236}">
                <a16:creationId xmlns:a16="http://schemas.microsoft.com/office/drawing/2014/main" id="{F1AFDDE0-3E29-44B6-AA57-4492BDFA50C6}"/>
              </a:ext>
            </a:extLst>
          </p:cNvPr>
          <p:cNvSpPr/>
          <p:nvPr/>
        </p:nvSpPr>
        <p:spPr>
          <a:xfrm>
            <a:off x="6846659" y="4369564"/>
            <a:ext cx="3044496"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push</a:t>
            </a:r>
          </a:p>
        </p:txBody>
      </p:sp>
      <p:sp>
        <p:nvSpPr>
          <p:cNvPr id="11" name="Rectangle: Rounded Corners 10">
            <a:extLst>
              <a:ext uri="{FF2B5EF4-FFF2-40B4-BE49-F238E27FC236}">
                <a16:creationId xmlns:a16="http://schemas.microsoft.com/office/drawing/2014/main" id="{F0C83B6A-6186-446A-9DDB-7972A1F57517}"/>
              </a:ext>
            </a:extLst>
          </p:cNvPr>
          <p:cNvSpPr/>
          <p:nvPr/>
        </p:nvSpPr>
        <p:spPr>
          <a:xfrm>
            <a:off x="956603" y="227407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Working Tree</a:t>
            </a:r>
          </a:p>
        </p:txBody>
      </p:sp>
      <p:sp>
        <p:nvSpPr>
          <p:cNvPr id="12" name="Rectangle: Rounded Corners 11">
            <a:extLst>
              <a:ext uri="{FF2B5EF4-FFF2-40B4-BE49-F238E27FC236}">
                <a16:creationId xmlns:a16="http://schemas.microsoft.com/office/drawing/2014/main" id="{12B209C1-496C-4062-9351-6F0D19B309A1}"/>
              </a:ext>
            </a:extLst>
          </p:cNvPr>
          <p:cNvSpPr/>
          <p:nvPr/>
        </p:nvSpPr>
        <p:spPr>
          <a:xfrm>
            <a:off x="3374297" y="2295173"/>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Staging area</a:t>
            </a:r>
          </a:p>
        </p:txBody>
      </p:sp>
      <p:sp>
        <p:nvSpPr>
          <p:cNvPr id="13" name="Rectangle: Rounded Corners 12">
            <a:extLst>
              <a:ext uri="{FF2B5EF4-FFF2-40B4-BE49-F238E27FC236}">
                <a16:creationId xmlns:a16="http://schemas.microsoft.com/office/drawing/2014/main" id="{2FC87F86-830E-47C3-AABE-238C8769C87B}"/>
              </a:ext>
            </a:extLst>
          </p:cNvPr>
          <p:cNvSpPr/>
          <p:nvPr/>
        </p:nvSpPr>
        <p:spPr>
          <a:xfrm>
            <a:off x="5839655" y="227407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Local Repo</a:t>
            </a:r>
          </a:p>
        </p:txBody>
      </p:sp>
      <p:sp>
        <p:nvSpPr>
          <p:cNvPr id="14" name="Rectangle: Rounded Corners 13">
            <a:extLst>
              <a:ext uri="{FF2B5EF4-FFF2-40B4-BE49-F238E27FC236}">
                <a16:creationId xmlns:a16="http://schemas.microsoft.com/office/drawing/2014/main" id="{F71DAB6A-DD1E-4025-8358-3B1071B9E486}"/>
              </a:ext>
            </a:extLst>
          </p:cNvPr>
          <p:cNvSpPr/>
          <p:nvPr/>
        </p:nvSpPr>
        <p:spPr>
          <a:xfrm>
            <a:off x="8859520" y="2295173"/>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Remote Repo</a:t>
            </a:r>
          </a:p>
        </p:txBody>
      </p:sp>
      <p:cxnSp>
        <p:nvCxnSpPr>
          <p:cNvPr id="15" name="Straight Connector 14">
            <a:extLst>
              <a:ext uri="{FF2B5EF4-FFF2-40B4-BE49-F238E27FC236}">
                <a16:creationId xmlns:a16="http://schemas.microsoft.com/office/drawing/2014/main" id="{FE60D47A-9917-4128-B36D-7A3127BD11C1}"/>
              </a:ext>
            </a:extLst>
          </p:cNvPr>
          <p:cNvCxnSpPr>
            <a:cxnSpLocks/>
            <a:stCxn id="11" idx="2"/>
          </p:cNvCxnSpPr>
          <p:nvPr/>
        </p:nvCxnSpPr>
        <p:spPr>
          <a:xfrm>
            <a:off x="1969477" y="2822712"/>
            <a:ext cx="0" cy="2747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37F3F0-FFC6-4C2B-AE05-3266E317261B}"/>
              </a:ext>
            </a:extLst>
          </p:cNvPr>
          <p:cNvCxnSpPr>
            <a:cxnSpLocks/>
            <a:stCxn id="12" idx="2"/>
          </p:cNvCxnSpPr>
          <p:nvPr/>
        </p:nvCxnSpPr>
        <p:spPr>
          <a:xfrm>
            <a:off x="4387171" y="2843813"/>
            <a:ext cx="0" cy="27268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866D63B-E109-49CC-9897-CAF3FC8653BA}"/>
              </a:ext>
            </a:extLst>
          </p:cNvPr>
          <p:cNvCxnSpPr>
            <a:cxnSpLocks/>
            <a:stCxn id="13" idx="2"/>
          </p:cNvCxnSpPr>
          <p:nvPr/>
        </p:nvCxnSpPr>
        <p:spPr>
          <a:xfrm>
            <a:off x="6852529" y="2822712"/>
            <a:ext cx="0" cy="2715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136BCA3-0AA6-460E-80CC-39A06CA454DD}"/>
              </a:ext>
            </a:extLst>
          </p:cNvPr>
          <p:cNvCxnSpPr>
            <a:cxnSpLocks/>
            <a:stCxn id="14" idx="2"/>
          </p:cNvCxnSpPr>
          <p:nvPr/>
        </p:nvCxnSpPr>
        <p:spPr>
          <a:xfrm>
            <a:off x="9872394" y="2843813"/>
            <a:ext cx="0" cy="2693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56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C89095-8EA8-4009-9AA0-7FB33FE72F6F}"/>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6" name="Text Placeholder 5">
            <a:extLst>
              <a:ext uri="{FF2B5EF4-FFF2-40B4-BE49-F238E27FC236}">
                <a16:creationId xmlns:a16="http://schemas.microsoft.com/office/drawing/2014/main" id="{9B90F451-8D0C-45D0-8EC6-BFC80F6BD010}"/>
              </a:ext>
            </a:extLst>
          </p:cNvPr>
          <p:cNvSpPr>
            <a:spLocks noGrp="1"/>
          </p:cNvSpPr>
          <p:nvPr>
            <p:ph type="body" sz="quarter" idx="17"/>
          </p:nvPr>
        </p:nvSpPr>
        <p:spPr/>
        <p:txBody>
          <a:bodyPr/>
          <a:lstStyle/>
          <a:p>
            <a:r>
              <a:rPr lang="en-US"/>
              <a:t>Download changes</a:t>
            </a:r>
            <a:endParaRPr lang="da-DK"/>
          </a:p>
        </p:txBody>
      </p:sp>
      <p:sp>
        <p:nvSpPr>
          <p:cNvPr id="5" name="Title 4">
            <a:extLst>
              <a:ext uri="{FF2B5EF4-FFF2-40B4-BE49-F238E27FC236}">
                <a16:creationId xmlns:a16="http://schemas.microsoft.com/office/drawing/2014/main" id="{2571227D-8DCD-4127-B1EC-2BD44BFA0C20}"/>
              </a:ext>
            </a:extLst>
          </p:cNvPr>
          <p:cNvSpPr>
            <a:spLocks noGrp="1"/>
          </p:cNvSpPr>
          <p:nvPr>
            <p:ph type="title"/>
          </p:nvPr>
        </p:nvSpPr>
        <p:spPr/>
        <p:txBody>
          <a:bodyPr/>
          <a:lstStyle/>
          <a:p>
            <a:r>
              <a:rPr lang="en-US"/>
              <a:t>“sync” with the remote 2</a:t>
            </a:r>
            <a:endParaRPr lang="da-DK"/>
          </a:p>
        </p:txBody>
      </p:sp>
      <p:sp>
        <p:nvSpPr>
          <p:cNvPr id="7" name="Content Placeholder 6">
            <a:extLst>
              <a:ext uri="{FF2B5EF4-FFF2-40B4-BE49-F238E27FC236}">
                <a16:creationId xmlns:a16="http://schemas.microsoft.com/office/drawing/2014/main" id="{E6662D2D-DB74-4C9B-AFB3-6F3814178E46}"/>
              </a:ext>
            </a:extLst>
          </p:cNvPr>
          <p:cNvSpPr>
            <a:spLocks noGrp="1"/>
          </p:cNvSpPr>
          <p:nvPr>
            <p:ph sz="quarter" idx="19"/>
          </p:nvPr>
        </p:nvSpPr>
        <p:spPr/>
        <p:txBody>
          <a:bodyPr/>
          <a:lstStyle/>
          <a:p>
            <a:pPr marL="0" indent="0">
              <a:buNone/>
            </a:pPr>
            <a:r>
              <a:rPr lang="en-US" b="1"/>
              <a:t>Fetch</a:t>
            </a:r>
            <a:r>
              <a:rPr lang="en-US"/>
              <a:t>: downloads new data from a remote repository - but it doesn't integrate any of this new data into your working files, it only updates the local remote copies</a:t>
            </a:r>
          </a:p>
          <a:p>
            <a:pPr marL="0" indent="0">
              <a:buNone/>
            </a:pPr>
            <a:r>
              <a:rPr lang="en-US" b="1"/>
              <a:t>Pull</a:t>
            </a:r>
            <a:r>
              <a:rPr lang="en-US"/>
              <a:t>: downloads new data and integrates it into your current working copy files – equivalent to fetch + merge</a:t>
            </a:r>
            <a:endParaRPr lang="en-US">
              <a:solidFill>
                <a:srgbClr val="FF0000"/>
              </a:solidFill>
            </a:endParaRPr>
          </a:p>
          <a:p>
            <a:endParaRPr lang="en-US"/>
          </a:p>
          <a:p>
            <a:endParaRPr lang="en-US"/>
          </a:p>
          <a:p>
            <a:endParaRPr lang="en-US"/>
          </a:p>
          <a:p>
            <a:pPr marL="0" indent="0">
              <a:buNone/>
            </a:pPr>
            <a:endParaRPr lang="en-US">
              <a:hlinkClick r:id="" action="ppaction://noaction"/>
            </a:endParaRPr>
          </a:p>
          <a:p>
            <a:pPr marL="0" indent="0">
              <a:buNone/>
            </a:pPr>
            <a:endParaRPr lang="en-US"/>
          </a:p>
          <a:p>
            <a:pPr marL="0" indent="0">
              <a:buNone/>
            </a:pPr>
            <a:endParaRPr lang="da-DK"/>
          </a:p>
        </p:txBody>
      </p:sp>
    </p:spTree>
    <p:extLst>
      <p:ext uri="{BB962C8B-B14F-4D97-AF65-F5344CB8AC3E}">
        <p14:creationId xmlns:p14="http://schemas.microsoft.com/office/powerpoint/2010/main" val="381890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40C2899-EAA9-4E5A-8F81-45A87A5A1F58}"/>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10" name="Arrow: Right 9">
            <a:extLst>
              <a:ext uri="{FF2B5EF4-FFF2-40B4-BE49-F238E27FC236}">
                <a16:creationId xmlns:a16="http://schemas.microsoft.com/office/drawing/2014/main" id="{9ACDF9F9-648B-44B0-B5FE-7281AEAC6C62}"/>
              </a:ext>
            </a:extLst>
          </p:cNvPr>
          <p:cNvSpPr/>
          <p:nvPr/>
        </p:nvSpPr>
        <p:spPr>
          <a:xfrm>
            <a:off x="4512598" y="2264009"/>
            <a:ext cx="2460670"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commit</a:t>
            </a:r>
          </a:p>
        </p:txBody>
      </p:sp>
      <p:sp>
        <p:nvSpPr>
          <p:cNvPr id="11" name="Arrow: Right 10">
            <a:extLst>
              <a:ext uri="{FF2B5EF4-FFF2-40B4-BE49-F238E27FC236}">
                <a16:creationId xmlns:a16="http://schemas.microsoft.com/office/drawing/2014/main" id="{A3F86BB9-87B6-41CA-AAFD-222983FABD85}"/>
              </a:ext>
            </a:extLst>
          </p:cNvPr>
          <p:cNvSpPr/>
          <p:nvPr/>
        </p:nvSpPr>
        <p:spPr>
          <a:xfrm>
            <a:off x="2096086" y="1573816"/>
            <a:ext cx="2416512"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add/stage</a:t>
            </a:r>
          </a:p>
        </p:txBody>
      </p:sp>
      <p:sp>
        <p:nvSpPr>
          <p:cNvPr id="13" name="Arrow: Right 12">
            <a:extLst>
              <a:ext uri="{FF2B5EF4-FFF2-40B4-BE49-F238E27FC236}">
                <a16:creationId xmlns:a16="http://schemas.microsoft.com/office/drawing/2014/main" id="{F8DF3F55-D3B6-4101-9367-7801E28AC808}"/>
              </a:ext>
            </a:extLst>
          </p:cNvPr>
          <p:cNvSpPr/>
          <p:nvPr/>
        </p:nvSpPr>
        <p:spPr>
          <a:xfrm>
            <a:off x="6973268" y="2883283"/>
            <a:ext cx="3044496" cy="864000"/>
          </a:xfrm>
          <a:prstGeom prst="rightArrow">
            <a:avLst/>
          </a:prstGeom>
          <a:solidFill>
            <a:schemeClr val="accent5"/>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push</a:t>
            </a:r>
          </a:p>
        </p:txBody>
      </p:sp>
      <p:sp>
        <p:nvSpPr>
          <p:cNvPr id="14" name="Arrow: Right 13">
            <a:extLst>
              <a:ext uri="{FF2B5EF4-FFF2-40B4-BE49-F238E27FC236}">
                <a16:creationId xmlns:a16="http://schemas.microsoft.com/office/drawing/2014/main" id="{CA05041B-CB63-4B77-8074-B1224C82FC91}"/>
              </a:ext>
            </a:extLst>
          </p:cNvPr>
          <p:cNvSpPr/>
          <p:nvPr/>
        </p:nvSpPr>
        <p:spPr>
          <a:xfrm flipH="1">
            <a:off x="6980320" y="4088709"/>
            <a:ext cx="3010868"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fetch</a:t>
            </a:r>
          </a:p>
        </p:txBody>
      </p:sp>
      <p:sp>
        <p:nvSpPr>
          <p:cNvPr id="15" name="Rectangle: Rounded Corners 14">
            <a:extLst>
              <a:ext uri="{FF2B5EF4-FFF2-40B4-BE49-F238E27FC236}">
                <a16:creationId xmlns:a16="http://schemas.microsoft.com/office/drawing/2014/main" id="{1CD83625-91F7-4873-844D-2802F2D356F9}"/>
              </a:ext>
            </a:extLst>
          </p:cNvPr>
          <p:cNvSpPr/>
          <p:nvPr/>
        </p:nvSpPr>
        <p:spPr>
          <a:xfrm>
            <a:off x="1083212" y="787791"/>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Working Tree</a:t>
            </a:r>
          </a:p>
        </p:txBody>
      </p:sp>
      <p:sp>
        <p:nvSpPr>
          <p:cNvPr id="16" name="Rectangle: Rounded Corners 15">
            <a:extLst>
              <a:ext uri="{FF2B5EF4-FFF2-40B4-BE49-F238E27FC236}">
                <a16:creationId xmlns:a16="http://schemas.microsoft.com/office/drawing/2014/main" id="{2F7A80BE-6146-4F57-8C81-06C0A3D2B13B}"/>
              </a:ext>
            </a:extLst>
          </p:cNvPr>
          <p:cNvSpPr/>
          <p:nvPr/>
        </p:nvSpPr>
        <p:spPr>
          <a:xfrm>
            <a:off x="3500906" y="80889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Staging area</a:t>
            </a:r>
          </a:p>
        </p:txBody>
      </p:sp>
      <p:sp>
        <p:nvSpPr>
          <p:cNvPr id="17" name="Rectangle: Rounded Corners 16">
            <a:extLst>
              <a:ext uri="{FF2B5EF4-FFF2-40B4-BE49-F238E27FC236}">
                <a16:creationId xmlns:a16="http://schemas.microsoft.com/office/drawing/2014/main" id="{B573D75B-3E27-4E7D-88AA-66DBB6B5735E}"/>
              </a:ext>
            </a:extLst>
          </p:cNvPr>
          <p:cNvSpPr/>
          <p:nvPr/>
        </p:nvSpPr>
        <p:spPr>
          <a:xfrm>
            <a:off x="5966264" y="787791"/>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Local Repo</a:t>
            </a:r>
          </a:p>
        </p:txBody>
      </p:sp>
      <p:sp>
        <p:nvSpPr>
          <p:cNvPr id="18" name="Rectangle: Rounded Corners 17">
            <a:extLst>
              <a:ext uri="{FF2B5EF4-FFF2-40B4-BE49-F238E27FC236}">
                <a16:creationId xmlns:a16="http://schemas.microsoft.com/office/drawing/2014/main" id="{405FDD71-78E7-4B98-A7D7-2CC7F3881683}"/>
              </a:ext>
            </a:extLst>
          </p:cNvPr>
          <p:cNvSpPr/>
          <p:nvPr/>
        </p:nvSpPr>
        <p:spPr>
          <a:xfrm>
            <a:off x="8986129" y="808892"/>
            <a:ext cx="2025748" cy="548640"/>
          </a:xfrm>
          <a:prstGeom prst="round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Remote Repo</a:t>
            </a:r>
          </a:p>
        </p:txBody>
      </p:sp>
      <p:cxnSp>
        <p:nvCxnSpPr>
          <p:cNvPr id="19" name="Straight Connector 18">
            <a:extLst>
              <a:ext uri="{FF2B5EF4-FFF2-40B4-BE49-F238E27FC236}">
                <a16:creationId xmlns:a16="http://schemas.microsoft.com/office/drawing/2014/main" id="{3C5DE244-8A38-4156-87AB-EDFD9856AA70}"/>
              </a:ext>
            </a:extLst>
          </p:cNvPr>
          <p:cNvCxnSpPr>
            <a:cxnSpLocks/>
            <a:stCxn id="15" idx="2"/>
          </p:cNvCxnSpPr>
          <p:nvPr/>
        </p:nvCxnSpPr>
        <p:spPr>
          <a:xfrm>
            <a:off x="2096086" y="1336431"/>
            <a:ext cx="14068" cy="468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230819D-58E9-4998-B545-01A6065AFD75}"/>
              </a:ext>
            </a:extLst>
          </p:cNvPr>
          <p:cNvCxnSpPr>
            <a:cxnSpLocks/>
            <a:stCxn id="16" idx="2"/>
          </p:cNvCxnSpPr>
          <p:nvPr/>
        </p:nvCxnSpPr>
        <p:spPr>
          <a:xfrm flipH="1">
            <a:off x="4513386" y="1357532"/>
            <a:ext cx="394" cy="4663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20852E6-6430-4777-918F-59EAC834856D}"/>
              </a:ext>
            </a:extLst>
          </p:cNvPr>
          <p:cNvCxnSpPr>
            <a:cxnSpLocks/>
            <a:stCxn id="17" idx="2"/>
          </p:cNvCxnSpPr>
          <p:nvPr/>
        </p:nvCxnSpPr>
        <p:spPr>
          <a:xfrm flipH="1">
            <a:off x="6974450" y="1336431"/>
            <a:ext cx="4688" cy="468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DDD5AA4-B05C-41B9-939C-7833729478A5}"/>
              </a:ext>
            </a:extLst>
          </p:cNvPr>
          <p:cNvCxnSpPr>
            <a:cxnSpLocks/>
            <a:stCxn id="18" idx="2"/>
          </p:cNvCxnSpPr>
          <p:nvPr/>
        </p:nvCxnSpPr>
        <p:spPr>
          <a:xfrm flipH="1">
            <a:off x="9983373" y="1357532"/>
            <a:ext cx="15630" cy="46634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Arrow: Right 11">
            <a:extLst>
              <a:ext uri="{FF2B5EF4-FFF2-40B4-BE49-F238E27FC236}">
                <a16:creationId xmlns:a16="http://schemas.microsoft.com/office/drawing/2014/main" id="{52A12A53-DC4C-4A18-8B43-A6C7FDBA5A16}"/>
              </a:ext>
            </a:extLst>
          </p:cNvPr>
          <p:cNvSpPr/>
          <p:nvPr/>
        </p:nvSpPr>
        <p:spPr>
          <a:xfrm flipH="1">
            <a:off x="2096086" y="5206209"/>
            <a:ext cx="7912298" cy="864000"/>
          </a:xfrm>
          <a:prstGeom prst="rightArrow">
            <a:avLst/>
          </a:prstGeom>
          <a:solidFill>
            <a:schemeClr val="accent5"/>
          </a:solidFill>
          <a:ln w="38100">
            <a:solidFill>
              <a:schemeClr val="tx1"/>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algn="ctr"/>
            <a:r>
              <a:rPr lang="en-US"/>
              <a:t>pull</a:t>
            </a:r>
          </a:p>
        </p:txBody>
      </p:sp>
    </p:spTree>
    <p:extLst>
      <p:ext uri="{BB962C8B-B14F-4D97-AF65-F5344CB8AC3E}">
        <p14:creationId xmlns:p14="http://schemas.microsoft.com/office/powerpoint/2010/main" val="2456307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3</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“Sync” with the remote</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a:t>Upload changes from the previous practice to remote repository by executing command </a:t>
            </a:r>
            <a:r>
              <a:rPr lang="en-US" sz="2000" b="1"/>
              <a:t>git push</a:t>
            </a:r>
          </a:p>
          <a:p>
            <a:pPr marL="352425" indent="-342900">
              <a:buFont typeface="+mj-lt"/>
              <a:buAutoNum type="arabicPeriod"/>
            </a:pPr>
            <a:r>
              <a:rPr lang="en-US" sz="2000"/>
              <a:t>Go to </a:t>
            </a:r>
            <a:r>
              <a:rPr lang="en-US" sz="2000" b="1"/>
              <a:t>GitHub </a:t>
            </a:r>
            <a:r>
              <a:rPr lang="en-US" sz="2000"/>
              <a:t>and open your repository, find the changed file and view the changes history</a:t>
            </a:r>
          </a:p>
          <a:p>
            <a:pPr marL="352425" indent="-342900">
              <a:buFont typeface="+mj-lt"/>
              <a:buAutoNum type="arabicPeriod"/>
            </a:pPr>
            <a:r>
              <a:rPr lang="en-US" sz="2000"/>
              <a:t>Ask your coach to push any change in your repository</a:t>
            </a:r>
          </a:p>
          <a:p>
            <a:pPr marL="541338" lvl="1" indent="-342900"/>
            <a:r>
              <a:rPr lang="en-US" sz="1800"/>
              <a:t>Make sure that your coach is added to project collaborators</a:t>
            </a:r>
          </a:p>
          <a:p>
            <a:pPr marL="541338" lvl="1" indent="-342900"/>
            <a:r>
              <a:rPr lang="en-US" sz="1800"/>
              <a:t>Do you see this change in remote/local repository? Try to execute </a:t>
            </a:r>
            <a:r>
              <a:rPr lang="en-US" sz="1800" b="1"/>
              <a:t>git status</a:t>
            </a:r>
            <a:r>
              <a:rPr lang="en-US" sz="1800"/>
              <a:t> command.</a:t>
            </a:r>
          </a:p>
          <a:p>
            <a:pPr marL="541338" lvl="1" indent="-342900"/>
            <a:r>
              <a:rPr lang="en-US" sz="1800"/>
              <a:t>Try to execute </a:t>
            </a:r>
            <a:r>
              <a:rPr lang="en-US" sz="1800" b="1"/>
              <a:t>git fetch </a:t>
            </a:r>
            <a:r>
              <a:rPr lang="en-US" sz="1800"/>
              <a:t>command, has something changed in your working directory? Why?</a:t>
            </a:r>
          </a:p>
          <a:p>
            <a:pPr marL="541338" lvl="1" indent="-342900"/>
            <a:r>
              <a:rPr lang="en-US" sz="1800"/>
              <a:t>Try to execute</a:t>
            </a:r>
            <a:r>
              <a:rPr lang="en-US" sz="1800" b="1"/>
              <a:t> git pull </a:t>
            </a:r>
            <a:r>
              <a:rPr lang="en-US" sz="1800"/>
              <a:t>command, has something changed in your working directory?</a:t>
            </a:r>
          </a:p>
          <a:p>
            <a:pPr marL="352425" indent="-342900">
              <a:buFont typeface="+mj-lt"/>
              <a:buAutoNum type="arabicPeriod"/>
            </a:pPr>
            <a:endParaRPr lang="en-US" sz="2000"/>
          </a:p>
          <a:p>
            <a:pPr marL="352425" indent="-342900">
              <a:buFont typeface="+mj-lt"/>
              <a:buAutoNum type="arabicPeriod"/>
            </a:pPr>
            <a:endParaRPr lang="en-US" sz="2000"/>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8671415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19</a:t>
            </a:fld>
            <a:endParaRPr lang="da-DK"/>
          </a:p>
        </p:txBody>
      </p:sp>
      <p:sp>
        <p:nvSpPr>
          <p:cNvPr id="12" name="Text Placeholder 2">
            <a:extLst>
              <a:ext uri="{FF2B5EF4-FFF2-40B4-BE49-F238E27FC236}">
                <a16:creationId xmlns:a16="http://schemas.microsoft.com/office/drawing/2014/main" id="{69263519-DFB5-47E7-A8A4-DAABD7DB5C93}"/>
              </a:ext>
            </a:extLst>
          </p:cNvPr>
          <p:cNvSpPr>
            <a:spLocks noGrp="1"/>
          </p:cNvSpPr>
          <p:nvPr>
            <p:ph type="body" sz="quarter" idx="17"/>
          </p:nvPr>
        </p:nvSpPr>
        <p:spPr>
          <a:xfrm>
            <a:off x="670985" y="1056000"/>
            <a:ext cx="10850033" cy="402384"/>
          </a:xfrm>
        </p:spPr>
        <p:txBody>
          <a:bodyPr/>
          <a:lstStyle/>
          <a:p>
            <a:endParaRPr lang="en-US"/>
          </a:p>
        </p:txBody>
      </p:sp>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pic>
        <p:nvPicPr>
          <p:cNvPr id="4" name="Picture 5" descr="Text&#10;&#10;Description automatically generated">
            <a:extLst>
              <a:ext uri="{FF2B5EF4-FFF2-40B4-BE49-F238E27FC236}">
                <a16:creationId xmlns:a16="http://schemas.microsoft.com/office/drawing/2014/main" id="{3E32B077-E16B-4478-BD86-0CCF9E44947E}"/>
              </a:ext>
            </a:extLst>
          </p:cNvPr>
          <p:cNvPicPr>
            <a:picLocks noChangeAspect="1"/>
          </p:cNvPicPr>
          <p:nvPr/>
        </p:nvPicPr>
        <p:blipFill>
          <a:blip r:embed="rId2"/>
          <a:stretch>
            <a:fillRect/>
          </a:stretch>
        </p:blipFill>
        <p:spPr>
          <a:xfrm>
            <a:off x="3890460" y="1326429"/>
            <a:ext cx="4290107" cy="5027756"/>
          </a:xfrm>
          <a:prstGeom prst="rect">
            <a:avLst/>
          </a:prstGeom>
          <a:noFill/>
        </p:spPr>
      </p:pic>
    </p:spTree>
    <p:extLst>
      <p:ext uri="{BB962C8B-B14F-4D97-AF65-F5344CB8AC3E}">
        <p14:creationId xmlns:p14="http://schemas.microsoft.com/office/powerpoint/2010/main" val="269478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Git development flow</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fontScale="92500" lnSpcReduction="20000"/>
          </a:bodyPr>
          <a:lstStyle/>
          <a:p>
            <a:pPr marL="0" indent="0" algn="l" rtl="0" fontAlgn="base">
              <a:buNone/>
            </a:pPr>
            <a:r>
              <a:rPr lang="en-US" sz="1600" b="0" i="0">
                <a:solidFill>
                  <a:srgbClr val="000000"/>
                </a:solidFill>
                <a:effectLst/>
                <a:latin typeface="Arial" panose="020B0604020202020204" pitchFamily="34" charset="0"/>
              </a:rPr>
              <a:t>Git workflow helps with continuous software development and implementing DevOps practices.</a:t>
            </a: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a:solidFill>
                <a:srgbClr val="000000"/>
              </a:solidFill>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endParaRPr lang="en-US" sz="1600" b="0" i="0">
              <a:solidFill>
                <a:srgbClr val="000000"/>
              </a:solidFill>
              <a:effectLst/>
              <a:latin typeface="Arial" panose="020B0604020202020204" pitchFamily="34" charset="0"/>
            </a:endParaRPr>
          </a:p>
          <a:p>
            <a:pPr marL="0" indent="0" algn="l" rtl="0" fontAlgn="base">
              <a:buNone/>
            </a:pPr>
            <a:r>
              <a:rPr lang="en-US" sz="1600" b="0" i="0">
                <a:solidFill>
                  <a:srgbClr val="000000"/>
                </a:solidFill>
                <a:effectLst/>
                <a:latin typeface="Arial" panose="020B0604020202020204" pitchFamily="34" charset="0"/>
              </a:rPr>
              <a:t>Instead of a single master branch, this workflow uses two branches to record the history of the project. The master branch stores the official release history, and the develop branch serves as an integration branch for features.  </a:t>
            </a:r>
          </a:p>
        </p:txBody>
      </p:sp>
      <p:pic>
        <p:nvPicPr>
          <p:cNvPr id="10242" name="Picture 2" descr="How to set up automatic validations of pull requests for orgs in a CI  workflow | Salesforce DevOps: News, Insights &amp; Events">
            <a:extLst>
              <a:ext uri="{FF2B5EF4-FFF2-40B4-BE49-F238E27FC236}">
                <a16:creationId xmlns:a16="http://schemas.microsoft.com/office/drawing/2014/main" id="{71276F55-00FD-4F11-93E1-44D5516EB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2839" y="1964179"/>
            <a:ext cx="61150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3997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BRANCH​?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A branch is used for a parallel version of a repository</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You working independently from the main branch in an independent series of commits</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Basically, a pointer to the “tip” of our parallel version (the last commit)</a:t>
            </a:r>
            <a:r>
              <a:rPr lang="en-US" sz="1600" b="0" i="0">
                <a:solidFill>
                  <a:srgbClr val="000000"/>
                </a:solidFill>
                <a:effectLst/>
                <a:latin typeface="Arial" panose="020B0604020202020204" pitchFamily="34" charset="0"/>
              </a:rPr>
              <a:t>​</a:t>
            </a:r>
          </a:p>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HEAD: (a pointer to) the last commit on the </a:t>
            </a:r>
            <a:r>
              <a:rPr lang="en-US" sz="1600" b="1" i="0" u="none" strike="noStrike">
                <a:solidFill>
                  <a:srgbClr val="000000"/>
                </a:solidFill>
                <a:effectLst/>
                <a:latin typeface="Arial" panose="020B0604020202020204" pitchFamily="34" charset="0"/>
              </a:rPr>
              <a:t>current branch </a:t>
            </a:r>
            <a:r>
              <a:rPr lang="en-US" sz="1600" b="0" i="0" u="none" strike="noStrike">
                <a:solidFill>
                  <a:srgbClr val="000000"/>
                </a:solidFill>
                <a:effectLst/>
                <a:latin typeface="Arial" panose="020B0604020202020204" pitchFamily="34" charset="0"/>
              </a:rPr>
              <a:t>we are on</a:t>
            </a: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pic>
        <p:nvPicPr>
          <p:cNvPr id="6" name="Picture 2">
            <a:extLst>
              <a:ext uri="{FF2B5EF4-FFF2-40B4-BE49-F238E27FC236}">
                <a16:creationId xmlns:a16="http://schemas.microsoft.com/office/drawing/2014/main" id="{ED7A3392-C693-4831-8594-FAD44C3D3F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3114" y="3429000"/>
            <a:ext cx="5042532" cy="2583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540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BRANCH​?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algn="l" rtl="0" fontAlgn="base">
              <a:buFont typeface="Arial" panose="020B0604020202020204" pitchFamily="34" charset="0"/>
              <a:buChar char="•"/>
            </a:pPr>
            <a:r>
              <a:rPr lang="en-US" sz="1600" b="0" i="0" u="none" strike="noStrike">
                <a:solidFill>
                  <a:srgbClr val="000000"/>
                </a:solidFill>
                <a:effectLst/>
                <a:latin typeface="Arial" panose="020B0604020202020204" pitchFamily="34" charset="0"/>
              </a:rPr>
              <a:t>HEAD: (a pointer to) the last commit on the </a:t>
            </a:r>
            <a:r>
              <a:rPr lang="en-US" sz="1600" b="1" i="0" u="none" strike="noStrike">
                <a:solidFill>
                  <a:srgbClr val="000000"/>
                </a:solidFill>
                <a:effectLst/>
                <a:latin typeface="Arial" panose="020B0604020202020204" pitchFamily="34" charset="0"/>
              </a:rPr>
              <a:t>current branch </a:t>
            </a:r>
            <a:r>
              <a:rPr lang="en-US" sz="1600" b="0" i="0" u="none" strike="noStrike">
                <a:solidFill>
                  <a:srgbClr val="000000"/>
                </a:solidFill>
                <a:effectLst/>
                <a:latin typeface="Arial" panose="020B0604020202020204" pitchFamily="34" charset="0"/>
              </a:rPr>
              <a:t>we are on</a:t>
            </a:r>
          </a:p>
          <a:p>
            <a:pPr marL="0" indent="0" algn="l" rtl="0" fontAlgn="base">
              <a:buNone/>
            </a:pPr>
            <a:endParaRPr lang="en-US" sz="1600" b="0" i="0">
              <a:solidFill>
                <a:srgbClr val="000000"/>
              </a:solidFill>
              <a:effectLst/>
              <a:latin typeface="Arial" panose="020B0604020202020204" pitchFamily="34" charset="0"/>
            </a:endParaRPr>
          </a:p>
          <a:p>
            <a:pPr algn="l" rtl="0" fontAlgn="base">
              <a:buFont typeface="Arial" panose="020B0604020202020204" pitchFamily="34" charset="0"/>
              <a:buChar char="•"/>
            </a:pPr>
            <a:endParaRPr lang="en-US" sz="1600" b="0" i="0">
              <a:solidFill>
                <a:srgbClr val="000000"/>
              </a:solidFill>
              <a:effectLst/>
              <a:latin typeface="Arial" panose="020B0604020202020204" pitchFamily="34" charset="0"/>
            </a:endParaRPr>
          </a:p>
        </p:txBody>
      </p:sp>
      <p:grpSp>
        <p:nvGrpSpPr>
          <p:cNvPr id="10" name="Group 9">
            <a:extLst>
              <a:ext uri="{FF2B5EF4-FFF2-40B4-BE49-F238E27FC236}">
                <a16:creationId xmlns:a16="http://schemas.microsoft.com/office/drawing/2014/main" id="{389E3D64-D004-477D-901B-64B407D0E80F}"/>
              </a:ext>
            </a:extLst>
          </p:cNvPr>
          <p:cNvGrpSpPr/>
          <p:nvPr/>
        </p:nvGrpSpPr>
        <p:grpSpPr>
          <a:xfrm>
            <a:off x="1203723" y="4212209"/>
            <a:ext cx="4106733" cy="1944860"/>
            <a:chOff x="4126727" y="3429000"/>
            <a:chExt cx="5319423" cy="2629894"/>
          </a:xfrm>
        </p:grpSpPr>
        <p:pic>
          <p:nvPicPr>
            <p:cNvPr id="5126" name="Picture 6" descr="The HEAD branch moves forward when a commit is made">
              <a:extLst>
                <a:ext uri="{FF2B5EF4-FFF2-40B4-BE49-F238E27FC236}">
                  <a16:creationId xmlns:a16="http://schemas.microsoft.com/office/drawing/2014/main" id="{98E631BD-5588-4F4A-B702-AC2EE0263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8655" y="3429000"/>
              <a:ext cx="5124616" cy="21395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6E848A7-750F-4AA8-868E-283DBFC5E113}"/>
                </a:ext>
              </a:extLst>
            </p:cNvPr>
            <p:cNvSpPr txBox="1"/>
            <p:nvPr/>
          </p:nvSpPr>
          <p:spPr>
            <a:xfrm>
              <a:off x="4126727" y="5689905"/>
              <a:ext cx="5319423" cy="368989"/>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The HEAD branch moves forward when a commit is made</a:t>
              </a:r>
              <a:endParaRPr lang="en-US" sz="1600">
                <a:latin typeface="+mn-lt"/>
              </a:endParaRPr>
            </a:p>
          </p:txBody>
        </p:sp>
      </p:grpSp>
      <p:grpSp>
        <p:nvGrpSpPr>
          <p:cNvPr id="12" name="Group 11">
            <a:extLst>
              <a:ext uri="{FF2B5EF4-FFF2-40B4-BE49-F238E27FC236}">
                <a16:creationId xmlns:a16="http://schemas.microsoft.com/office/drawing/2014/main" id="{5C133FB7-81ED-4C56-9D9F-32B8A6DFD7CB}"/>
              </a:ext>
            </a:extLst>
          </p:cNvPr>
          <p:cNvGrpSpPr/>
          <p:nvPr/>
        </p:nvGrpSpPr>
        <p:grpSpPr>
          <a:xfrm>
            <a:off x="5690484" y="2026850"/>
            <a:ext cx="3251933" cy="2063010"/>
            <a:chOff x="6356642" y="1849778"/>
            <a:chExt cx="5220031" cy="3577734"/>
          </a:xfrm>
        </p:grpSpPr>
        <p:pic>
          <p:nvPicPr>
            <p:cNvPr id="5124" name="Picture 4" descr="HEAD points to the current branch">
              <a:extLst>
                <a:ext uri="{FF2B5EF4-FFF2-40B4-BE49-F238E27FC236}">
                  <a16:creationId xmlns:a16="http://schemas.microsoft.com/office/drawing/2014/main" id="{BCC40E57-3CEE-4DFE-B604-C77931CFB7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56642" y="1849778"/>
              <a:ext cx="5220031" cy="300151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208ACBCD-2F8D-4061-9CA9-50748EA3F63F}"/>
                </a:ext>
              </a:extLst>
            </p:cNvPr>
            <p:cNvSpPr txBox="1"/>
            <p:nvPr/>
          </p:nvSpPr>
          <p:spPr>
            <a:xfrm>
              <a:off x="6356642" y="5057529"/>
              <a:ext cx="5220030" cy="36998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HEAD points to the current branch</a:t>
              </a:r>
              <a:endParaRPr lang="en-US" sz="1600">
                <a:latin typeface="+mn-lt"/>
              </a:endParaRPr>
            </a:p>
          </p:txBody>
        </p:sp>
      </p:grpSp>
      <p:grpSp>
        <p:nvGrpSpPr>
          <p:cNvPr id="14" name="Group 13">
            <a:extLst>
              <a:ext uri="{FF2B5EF4-FFF2-40B4-BE49-F238E27FC236}">
                <a16:creationId xmlns:a16="http://schemas.microsoft.com/office/drawing/2014/main" id="{BBA39CE7-0240-4B7C-A65D-92D63B5B0A01}"/>
              </a:ext>
            </a:extLst>
          </p:cNvPr>
          <p:cNvGrpSpPr/>
          <p:nvPr/>
        </p:nvGrpSpPr>
        <p:grpSpPr>
          <a:xfrm>
            <a:off x="1203723" y="1968302"/>
            <a:ext cx="3264910" cy="2121558"/>
            <a:chOff x="615327" y="620921"/>
            <a:chExt cx="4227017" cy="2808079"/>
          </a:xfrm>
        </p:grpSpPr>
        <p:pic>
          <p:nvPicPr>
            <p:cNvPr id="5122" name="Picture 2" descr="HEAD pointing to a branch">
              <a:extLst>
                <a:ext uri="{FF2B5EF4-FFF2-40B4-BE49-F238E27FC236}">
                  <a16:creationId xmlns:a16="http://schemas.microsoft.com/office/drawing/2014/main" id="{F044B549-5C84-42E8-B2BB-C75533EBE0C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15327" y="620921"/>
              <a:ext cx="4210216" cy="245771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C86FD74-82DA-4DDE-9FFC-E6AF05F766E6}"/>
                </a:ext>
              </a:extLst>
            </p:cNvPr>
            <p:cNvSpPr txBox="1"/>
            <p:nvPr/>
          </p:nvSpPr>
          <p:spPr>
            <a:xfrm>
              <a:off x="615327" y="3172570"/>
              <a:ext cx="4227017" cy="25643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b="0" i="0">
                  <a:solidFill>
                    <a:srgbClr val="4E443C"/>
                  </a:solidFill>
                  <a:effectLst/>
                  <a:latin typeface="Georgia" panose="02040502050405020303" pitchFamily="18" charset="0"/>
                </a:rPr>
                <a:t>HEAD pointing to a branch</a:t>
              </a:r>
              <a:endParaRPr lang="en-US" sz="1600">
                <a:latin typeface="+mn-lt"/>
              </a:endParaRPr>
            </a:p>
          </p:txBody>
        </p:sp>
      </p:grpSp>
    </p:spTree>
    <p:extLst>
      <p:ext uri="{BB962C8B-B14F-4D97-AF65-F5344CB8AC3E}">
        <p14:creationId xmlns:p14="http://schemas.microsoft.com/office/powerpoint/2010/main" val="124158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BRANCHES​</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CHERRY PICK​?</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l" rtl="0" fontAlgn="base">
              <a:buNone/>
            </a:pPr>
            <a:r>
              <a:rPr lang="en-US" sz="1600">
                <a:solidFill>
                  <a:srgbClr val="000000"/>
                </a:solidFill>
                <a:latin typeface="Arial" panose="020B0604020202020204" pitchFamily="34" charset="0"/>
              </a:rPr>
              <a:t>Cherry picking in Git means to choose a commit from one branch and apply it onto another. </a:t>
            </a:r>
          </a:p>
          <a:p>
            <a:pPr marL="0" indent="0" algn="l" rtl="0" fontAlgn="base">
              <a:buNone/>
            </a:pPr>
            <a:r>
              <a:rPr lang="en-US" sz="1600">
                <a:solidFill>
                  <a:srgbClr val="000000"/>
                </a:solidFill>
                <a:latin typeface="Arial" panose="020B0604020202020204" pitchFamily="34" charset="0"/>
              </a:rPr>
              <a:t>This is in contrast with other ways such as merge and rebase which normally apply many commits onto another branch.</a:t>
            </a:r>
          </a:p>
        </p:txBody>
      </p:sp>
      <p:pic>
        <p:nvPicPr>
          <p:cNvPr id="1026" name="Picture 2" descr="Awesome Git technique for partial merge | by Michael Radionov | FAUN">
            <a:extLst>
              <a:ext uri="{FF2B5EF4-FFF2-40B4-BE49-F238E27FC236}">
                <a16:creationId xmlns:a16="http://schemas.microsoft.com/office/drawing/2014/main" id="{FD7428D8-FA13-48F6-81C2-E203DA9C5A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6884" y="2508991"/>
            <a:ext cx="8226960" cy="33839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8049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4</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BRANCHES</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vert="horz" lIns="0" tIns="0" rIns="0" bIns="0" rtlCol="0" anchor="t">
            <a:noAutofit/>
          </a:bodyPr>
          <a:lstStyle/>
          <a:p>
            <a:pPr marL="352425" indent="-342900">
              <a:spcBef>
                <a:spcPts val="0"/>
              </a:spcBef>
              <a:spcAft>
                <a:spcPts val="600"/>
              </a:spcAft>
              <a:buFont typeface="+mj-lt"/>
              <a:buAutoNum type="arabicPeriod"/>
            </a:pPr>
            <a:r>
              <a:rPr lang="en-US" sz="2000">
                <a:cs typeface="Calibri"/>
              </a:rPr>
              <a:t>Create a new branch by using </a:t>
            </a:r>
            <a:r>
              <a:rPr lang="en-US" sz="2000" b="1">
                <a:cs typeface="Calibri"/>
              </a:rPr>
              <a:t>git branch ‘</a:t>
            </a:r>
            <a:r>
              <a:rPr lang="en-US" sz="2000" i="1">
                <a:cs typeface="Calibri"/>
              </a:rPr>
              <a:t>education’</a:t>
            </a:r>
          </a:p>
          <a:p>
            <a:pPr marL="541020" lvl="1" indent="-342900">
              <a:spcAft>
                <a:spcPts val="600"/>
              </a:spcAft>
            </a:pPr>
            <a:r>
              <a:rPr lang="en-US" sz="1800"/>
              <a:t>Execute </a:t>
            </a:r>
            <a:r>
              <a:rPr lang="en-US" sz="1800" b="1"/>
              <a:t>git branch </a:t>
            </a:r>
            <a:r>
              <a:rPr lang="en-US" sz="1800"/>
              <a:t>to view all branches</a:t>
            </a:r>
          </a:p>
          <a:p>
            <a:pPr marL="541020" lvl="1" indent="-342900">
              <a:spcAft>
                <a:spcPts val="600"/>
              </a:spcAft>
            </a:pPr>
            <a:r>
              <a:rPr lang="en-US" sz="1800"/>
              <a:t>Are you still at master branch?</a:t>
            </a:r>
          </a:p>
          <a:p>
            <a:pPr marL="466725" indent="-457200">
              <a:spcBef>
                <a:spcPts val="0"/>
              </a:spcBef>
              <a:spcAft>
                <a:spcPts val="600"/>
              </a:spcAft>
              <a:buFont typeface="+mj-lt"/>
              <a:buAutoNum type="arabicPeriod"/>
            </a:pPr>
            <a:r>
              <a:rPr lang="en-US" sz="2000"/>
              <a:t>Switch to </a:t>
            </a:r>
            <a:r>
              <a:rPr lang="en-US" sz="2000" b="1"/>
              <a:t>‘</a:t>
            </a:r>
            <a:r>
              <a:rPr lang="en-US" sz="2000" i="1"/>
              <a:t>education’ </a:t>
            </a:r>
            <a:r>
              <a:rPr lang="en-US" sz="2000"/>
              <a:t>branch by using </a:t>
            </a:r>
            <a:r>
              <a:rPr lang="en-US" sz="2000" b="1"/>
              <a:t>git checkout education</a:t>
            </a:r>
          </a:p>
          <a:p>
            <a:pPr marL="466725" indent="-457200">
              <a:spcBef>
                <a:spcPts val="0"/>
              </a:spcBef>
              <a:spcAft>
                <a:spcPts val="600"/>
              </a:spcAft>
              <a:buFont typeface="+mj-lt"/>
              <a:buAutoNum type="arabicPeriod"/>
            </a:pPr>
            <a:r>
              <a:rPr lang="en-US" sz="2000">
                <a:cs typeface="Calibri"/>
              </a:rPr>
              <a:t>Change </a:t>
            </a:r>
            <a:r>
              <a:rPr lang="en-US" sz="2000" err="1">
                <a:cs typeface="Calibri"/>
              </a:rPr>
              <a:t>Program.cs</a:t>
            </a:r>
            <a:r>
              <a:rPr lang="en-US" sz="2000">
                <a:cs typeface="Calibri"/>
              </a:rPr>
              <a:t> file by modifying a message printed into console.</a:t>
            </a:r>
          </a:p>
          <a:p>
            <a:pPr marL="466725" indent="-457200">
              <a:spcBef>
                <a:spcPts val="0"/>
              </a:spcBef>
              <a:spcAft>
                <a:spcPts val="600"/>
              </a:spcAft>
              <a:buFont typeface="+mj-lt"/>
              <a:buAutoNum type="arabicPeriod"/>
            </a:pPr>
            <a:r>
              <a:rPr lang="en-US" sz="2000"/>
              <a:t>Commit your changes and push to remote repository (</a:t>
            </a:r>
            <a:r>
              <a:rPr lang="en-US" sz="2000" b="1"/>
              <a:t>git push --set-upstream origin education</a:t>
            </a:r>
            <a:r>
              <a:rPr lang="en-US" sz="2000"/>
              <a:t>)</a:t>
            </a:r>
            <a:endParaRPr lang="en-US" i="1"/>
          </a:p>
          <a:p>
            <a:pPr marL="655320" lvl="1" indent="-457200">
              <a:spcAft>
                <a:spcPts val="600"/>
              </a:spcAft>
            </a:pPr>
            <a:r>
              <a:rPr lang="en-US" sz="1800"/>
              <a:t>Do you see the pushed changes in the remote repository?</a:t>
            </a:r>
          </a:p>
          <a:p>
            <a:pPr marL="466725" indent="-457200">
              <a:spcBef>
                <a:spcPts val="0"/>
              </a:spcBef>
              <a:spcAft>
                <a:spcPts val="600"/>
              </a:spcAft>
              <a:buFont typeface="+mj-lt"/>
              <a:buAutoNum type="arabicPeriod"/>
            </a:pPr>
            <a:r>
              <a:rPr lang="en-US" sz="2000">
                <a:cs typeface="Calibri"/>
              </a:rPr>
              <a:t>Ask you coach to publish a new branch named – ‘</a:t>
            </a:r>
            <a:r>
              <a:rPr lang="en-US" sz="2000" i="1" err="1">
                <a:cs typeface="Calibri"/>
              </a:rPr>
              <a:t>fetch_command_example</a:t>
            </a:r>
            <a:r>
              <a:rPr lang="en-US" sz="2000">
                <a:cs typeface="Calibri"/>
              </a:rPr>
              <a:t>’</a:t>
            </a:r>
            <a:endParaRPr lang="en-US" sz="1800">
              <a:cs typeface="Calibri"/>
            </a:endParaRPr>
          </a:p>
          <a:p>
            <a:pPr marL="655320" lvl="1" indent="-457200">
              <a:spcAft>
                <a:spcPts val="600"/>
              </a:spcAft>
            </a:pPr>
            <a:r>
              <a:rPr lang="en-US" sz="1800">
                <a:cs typeface="Calibri"/>
              </a:rPr>
              <a:t>Execute sequentially </a:t>
            </a:r>
            <a:r>
              <a:rPr lang="en-US" sz="1800" b="1">
                <a:cs typeface="Calibri"/>
              </a:rPr>
              <a:t>git branch</a:t>
            </a:r>
            <a:r>
              <a:rPr lang="en-US" sz="1800">
                <a:cs typeface="Calibri"/>
              </a:rPr>
              <a:t>,</a:t>
            </a:r>
            <a:r>
              <a:rPr lang="en-US" sz="1800" b="1">
                <a:cs typeface="Calibri"/>
              </a:rPr>
              <a:t> git branch –a</a:t>
            </a:r>
            <a:r>
              <a:rPr lang="en-US" sz="1800">
                <a:cs typeface="Calibri"/>
              </a:rPr>
              <a:t>,</a:t>
            </a:r>
            <a:r>
              <a:rPr lang="en-US" sz="1800" b="1">
                <a:cs typeface="Calibri"/>
              </a:rPr>
              <a:t> git fetch </a:t>
            </a:r>
            <a:r>
              <a:rPr lang="en-US" sz="1800">
                <a:cs typeface="Calibri"/>
              </a:rPr>
              <a:t>and</a:t>
            </a:r>
            <a:r>
              <a:rPr lang="en-US" sz="1800" b="1">
                <a:cs typeface="Calibri"/>
              </a:rPr>
              <a:t> git branch -a</a:t>
            </a:r>
          </a:p>
          <a:p>
            <a:pPr marL="655320" lvl="1" indent="-457200">
              <a:spcAft>
                <a:spcPts val="600"/>
              </a:spcAft>
            </a:pPr>
            <a:r>
              <a:rPr lang="en-US" sz="1800"/>
              <a:t>Can you explain what each command did and why?</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252993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4BBC27D-F8D9-48AC-BD94-76BE64C97778}"/>
              </a:ext>
            </a:extLst>
          </p:cNvPr>
          <p:cNvSpPr>
            <a:spLocks noGrp="1"/>
          </p:cNvSpPr>
          <p:nvPr>
            <p:ph type="title"/>
          </p:nvPr>
        </p:nvSpPr>
        <p:spPr>
          <a:xfrm>
            <a:off x="649139" y="5393"/>
            <a:ext cx="10878759" cy="1052738"/>
          </a:xfrm>
        </p:spPr>
        <p:txBody>
          <a:bodyPr wrap="square" anchor="b">
            <a:normAutofit/>
          </a:bodyPr>
          <a:lstStyle/>
          <a:p>
            <a:r>
              <a:rPr lang="en-US"/>
              <a:t>Integrate changes from one branch to another</a:t>
            </a:r>
            <a:endParaRPr lang="da-DK"/>
          </a:p>
        </p:txBody>
      </p:sp>
      <p:sp>
        <p:nvSpPr>
          <p:cNvPr id="3" name="Slide Number Placeholder 2">
            <a:extLst>
              <a:ext uri="{FF2B5EF4-FFF2-40B4-BE49-F238E27FC236}">
                <a16:creationId xmlns:a16="http://schemas.microsoft.com/office/drawing/2014/main" id="{5DE85CA1-B297-4ED6-A080-7205422FA239}"/>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25</a:t>
            </a:fld>
            <a:endParaRPr lang="da-DK"/>
          </a:p>
        </p:txBody>
      </p:sp>
      <p:sp>
        <p:nvSpPr>
          <p:cNvPr id="6" name="Text Placeholder 5">
            <a:extLst>
              <a:ext uri="{FF2B5EF4-FFF2-40B4-BE49-F238E27FC236}">
                <a16:creationId xmlns:a16="http://schemas.microsoft.com/office/drawing/2014/main" id="{F51A7DB3-07FB-449C-8D15-A081E97E4342}"/>
              </a:ext>
            </a:extLst>
          </p:cNvPr>
          <p:cNvSpPr>
            <a:spLocks noGrp="1"/>
          </p:cNvSpPr>
          <p:nvPr>
            <p:ph type="body" sz="quarter" idx="17"/>
          </p:nvPr>
        </p:nvSpPr>
        <p:spPr>
          <a:xfrm>
            <a:off x="670985" y="1056000"/>
            <a:ext cx="10850033" cy="402384"/>
          </a:xfrm>
        </p:spPr>
        <p:txBody>
          <a:bodyPr anchor="t">
            <a:normAutofit/>
          </a:bodyPr>
          <a:lstStyle/>
          <a:p>
            <a:r>
              <a:rPr lang="en-US"/>
              <a:t>Merge vs rebase</a:t>
            </a:r>
            <a:endParaRPr lang="da-DK"/>
          </a:p>
        </p:txBody>
      </p:sp>
      <p:sp>
        <p:nvSpPr>
          <p:cNvPr id="7" name="Content Placeholder 6">
            <a:extLst>
              <a:ext uri="{FF2B5EF4-FFF2-40B4-BE49-F238E27FC236}">
                <a16:creationId xmlns:a16="http://schemas.microsoft.com/office/drawing/2014/main" id="{67906686-F97C-43D5-B3D5-C3967CCCEDB6}"/>
              </a:ext>
            </a:extLst>
          </p:cNvPr>
          <p:cNvSpPr>
            <a:spLocks noGrp="1"/>
          </p:cNvSpPr>
          <p:nvPr>
            <p:ph sz="quarter" idx="18"/>
          </p:nvPr>
        </p:nvSpPr>
        <p:spPr>
          <a:xfrm>
            <a:off x="546222" y="1626142"/>
            <a:ext cx="5340350" cy="4568825"/>
          </a:xfrm>
        </p:spPr>
        <p:txBody>
          <a:bodyPr>
            <a:normAutofit/>
          </a:bodyPr>
          <a:lstStyle/>
          <a:p>
            <a:pPr marL="0" indent="0">
              <a:buNone/>
            </a:pPr>
            <a:r>
              <a:rPr lang="en-US" b="1"/>
              <a:t>Merge</a:t>
            </a:r>
            <a:r>
              <a:rPr lang="en-US"/>
              <a:t>: Apply the changes of one branch to another branch, adds a </a:t>
            </a:r>
            <a:r>
              <a:rPr lang="en-US" i="1"/>
              <a:t>merge commit</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b="1"/>
              <a:t>Rebase</a:t>
            </a:r>
            <a:r>
              <a:rPr lang="en-US"/>
              <a:t>: Reapply a series of changes from a branch </a:t>
            </a:r>
            <a:r>
              <a:rPr lang="en-US" i="1"/>
              <a:t>on top of another</a:t>
            </a:r>
            <a:r>
              <a:rPr lang="en-US"/>
              <a:t>, and reset the head of that branch to the result</a:t>
            </a:r>
          </a:p>
          <a:p>
            <a:endParaRPr lang="en-US"/>
          </a:p>
        </p:txBody>
      </p:sp>
      <p:pic>
        <p:nvPicPr>
          <p:cNvPr id="8194" name="Picture 2" descr="When do you use Git rebase instead of Git merge? - Stack Overflow">
            <a:extLst>
              <a:ext uri="{FF2B5EF4-FFF2-40B4-BE49-F238E27FC236}">
                <a16:creationId xmlns:a16="http://schemas.microsoft.com/office/drawing/2014/main" id="{4B9C8757-C4B4-46E9-8A5D-BEA8702F056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947515" y="1626142"/>
            <a:ext cx="4573503" cy="4568824"/>
          </a:xfrm>
          <a:prstGeom prst="rect">
            <a:avLst/>
          </a:prstGeom>
          <a:solidFill>
            <a:srgbClr val="FFFFFF"/>
          </a:solidFill>
        </p:spPr>
      </p:pic>
      <p:pic>
        <p:nvPicPr>
          <p:cNvPr id="8" name="Picture 2" descr="When do you use Git rebase instead of Git merge? - Stack Overflow">
            <a:extLst>
              <a:ext uri="{FF2B5EF4-FFF2-40B4-BE49-F238E27FC236}">
                <a16:creationId xmlns:a16="http://schemas.microsoft.com/office/drawing/2014/main" id="{BFB4AD66-07D9-4BDA-A995-49AEE39B76DC}"/>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544146" y="2602857"/>
            <a:ext cx="3342426" cy="2348130"/>
          </a:xfrm>
          <a:prstGeom prst="rect">
            <a:avLst/>
          </a:prstGeom>
          <a:solidFill>
            <a:srgbClr val="FFFFFF"/>
          </a:solidFill>
        </p:spPr>
      </p:pic>
      <p:cxnSp>
        <p:nvCxnSpPr>
          <p:cNvPr id="4" name="Straight Arrow Connector 3">
            <a:extLst>
              <a:ext uri="{FF2B5EF4-FFF2-40B4-BE49-F238E27FC236}">
                <a16:creationId xmlns:a16="http://schemas.microsoft.com/office/drawing/2014/main" id="{A3009141-B680-4123-AE71-1071B02F8AD7}"/>
              </a:ext>
            </a:extLst>
          </p:cNvPr>
          <p:cNvCxnSpPr>
            <a:cxnSpLocks/>
          </p:cNvCxnSpPr>
          <p:nvPr/>
        </p:nvCxnSpPr>
        <p:spPr>
          <a:xfrm flipV="1">
            <a:off x="5886572" y="3181493"/>
            <a:ext cx="1060943" cy="45284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0" name="Straight Arrow Connector 9">
            <a:extLst>
              <a:ext uri="{FF2B5EF4-FFF2-40B4-BE49-F238E27FC236}">
                <a16:creationId xmlns:a16="http://schemas.microsoft.com/office/drawing/2014/main" id="{5CE8B890-0CEE-4C0C-ACE3-5EDDF28AFD99}"/>
              </a:ext>
            </a:extLst>
          </p:cNvPr>
          <p:cNvCxnSpPr>
            <a:cxnSpLocks/>
          </p:cNvCxnSpPr>
          <p:nvPr/>
        </p:nvCxnSpPr>
        <p:spPr>
          <a:xfrm>
            <a:off x="5886572" y="3870148"/>
            <a:ext cx="1060943" cy="44008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3003468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26</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2"/>
          <a:stretch>
            <a:fillRect/>
          </a:stretch>
        </p:blipFill>
        <p:spPr>
          <a:xfrm>
            <a:off x="1177207" y="1620838"/>
            <a:ext cx="4328961" cy="4568825"/>
          </a:xfrm>
          <a:prstGeom prst="rect">
            <a:avLst/>
          </a:prstGeom>
          <a:noFill/>
        </p:spPr>
      </p:pic>
    </p:spTree>
    <p:extLst>
      <p:ext uri="{BB962C8B-B14F-4D97-AF65-F5344CB8AC3E}">
        <p14:creationId xmlns:p14="http://schemas.microsoft.com/office/powerpoint/2010/main" val="2034991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9A75A5-173C-446C-973B-B499E1F08FFF}"/>
              </a:ext>
            </a:extLst>
          </p:cNvPr>
          <p:cNvSpPr>
            <a:spLocks noGrp="1"/>
          </p:cNvSpPr>
          <p:nvPr>
            <p:ph type="title"/>
          </p:nvPr>
        </p:nvSpPr>
        <p:spPr>
          <a:xfrm>
            <a:off x="649139" y="5393"/>
            <a:ext cx="10878759" cy="1052738"/>
          </a:xfrm>
        </p:spPr>
        <p:txBody>
          <a:bodyPr wrap="square" anchor="b">
            <a:normAutofit/>
          </a:bodyPr>
          <a:lstStyle/>
          <a:p>
            <a:r>
              <a:rPr lang="en-US"/>
              <a:t>Pull requests</a:t>
            </a:r>
            <a:endParaRPr lang="da-DK"/>
          </a:p>
        </p:txBody>
      </p:sp>
      <p:sp>
        <p:nvSpPr>
          <p:cNvPr id="3" name="Slide Number Placeholder 2">
            <a:extLst>
              <a:ext uri="{FF2B5EF4-FFF2-40B4-BE49-F238E27FC236}">
                <a16:creationId xmlns:a16="http://schemas.microsoft.com/office/drawing/2014/main" id="{3FBCCE39-DADA-40B1-AE48-EEE1072ABD6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27</a:t>
            </a:fld>
            <a:endParaRPr lang="da-DK"/>
          </a:p>
        </p:txBody>
      </p:sp>
      <p:sp>
        <p:nvSpPr>
          <p:cNvPr id="6" name="Text Placeholder 5">
            <a:extLst>
              <a:ext uri="{FF2B5EF4-FFF2-40B4-BE49-F238E27FC236}">
                <a16:creationId xmlns:a16="http://schemas.microsoft.com/office/drawing/2014/main" id="{2F5EF594-B5CD-4DF0-995E-4742B2F5E106}"/>
              </a:ext>
            </a:extLst>
          </p:cNvPr>
          <p:cNvSpPr>
            <a:spLocks noGrp="1"/>
          </p:cNvSpPr>
          <p:nvPr>
            <p:ph type="body" sz="quarter" idx="17"/>
          </p:nvPr>
        </p:nvSpPr>
        <p:spPr>
          <a:xfrm>
            <a:off x="670985" y="1056000"/>
            <a:ext cx="10850033" cy="402384"/>
          </a:xfrm>
        </p:spPr>
        <p:txBody>
          <a:bodyPr anchor="t">
            <a:normAutofit/>
          </a:bodyPr>
          <a:lstStyle/>
          <a:p>
            <a:r>
              <a:rPr lang="en-US"/>
              <a:t>What is pull request?</a:t>
            </a:r>
            <a:endParaRPr lang="da-DK"/>
          </a:p>
        </p:txBody>
      </p:sp>
      <p:sp>
        <p:nvSpPr>
          <p:cNvPr id="7" name="Content Placeholder 6">
            <a:extLst>
              <a:ext uri="{FF2B5EF4-FFF2-40B4-BE49-F238E27FC236}">
                <a16:creationId xmlns:a16="http://schemas.microsoft.com/office/drawing/2014/main" id="{E7261275-24C3-49E4-A145-72E2B782FC38}"/>
              </a:ext>
            </a:extLst>
          </p:cNvPr>
          <p:cNvSpPr>
            <a:spLocks noGrp="1"/>
          </p:cNvSpPr>
          <p:nvPr>
            <p:ph sz="quarter" idx="18"/>
          </p:nvPr>
        </p:nvSpPr>
        <p:spPr>
          <a:xfrm>
            <a:off x="671513" y="1620838"/>
            <a:ext cx="10878758" cy="4568825"/>
          </a:xfrm>
        </p:spPr>
        <p:txBody>
          <a:bodyPr>
            <a:normAutofit/>
          </a:bodyPr>
          <a:lstStyle/>
          <a:p>
            <a:pPr marL="0" indent="0">
              <a:lnSpc>
                <a:spcPct val="90000"/>
              </a:lnSpc>
              <a:buNone/>
            </a:pPr>
            <a:r>
              <a:rPr lang="en-US"/>
              <a:t>When you are ready with your work on your feature branch you can merge it to the master branch, but you want teammates to review and approve your changes first</a:t>
            </a:r>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a:lnSpc>
                <a:spcPct val="90000"/>
              </a:lnSpc>
            </a:pPr>
            <a:endParaRPr lang="en-US"/>
          </a:p>
          <a:p>
            <a:pPr marL="0" indent="0">
              <a:lnSpc>
                <a:spcPct val="90000"/>
              </a:lnSpc>
              <a:buNone/>
            </a:pPr>
            <a:r>
              <a:rPr lang="en-US" i="1"/>
              <a:t>The Pull Requests that we use on GitHub is not a git feature, it is offered by GitHub as an extra feature for collaboration</a:t>
            </a:r>
          </a:p>
          <a:p>
            <a:pPr marL="0" indent="0">
              <a:lnSpc>
                <a:spcPct val="90000"/>
              </a:lnSpc>
              <a:buNone/>
            </a:pPr>
            <a:endParaRPr lang="en-US"/>
          </a:p>
        </p:txBody>
      </p:sp>
      <p:pic>
        <p:nvPicPr>
          <p:cNvPr id="9218" name="Picture 2" descr="5 Elements of a Perfect Pull Request - DZone Java">
            <a:extLst>
              <a:ext uri="{FF2B5EF4-FFF2-40B4-BE49-F238E27FC236}">
                <a16:creationId xmlns:a16="http://schemas.microsoft.com/office/drawing/2014/main" id="{A9DCA9C6-A044-41CF-B5F1-ED4E8BFAFC7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23039" y="2277466"/>
            <a:ext cx="5175706" cy="2859577"/>
          </a:xfrm>
          <a:prstGeom prst="rect">
            <a:avLst/>
          </a:prstGeom>
          <a:solidFill>
            <a:srgbClr val="FFFFFF"/>
          </a:solidFill>
        </p:spPr>
      </p:pic>
    </p:spTree>
    <p:extLst>
      <p:ext uri="{BB962C8B-B14F-4D97-AF65-F5344CB8AC3E}">
        <p14:creationId xmlns:p14="http://schemas.microsoft.com/office/powerpoint/2010/main" val="3718298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5ECB5F-A2C8-4E1F-9D07-C89D70EBE2A1}"/>
              </a:ext>
            </a:extLst>
          </p:cNvPr>
          <p:cNvSpPr>
            <a:spLocks noGrp="1"/>
          </p:cNvSpPr>
          <p:nvPr>
            <p:ph type="sldNum" sz="quarter" idx="11"/>
          </p:nvPr>
        </p:nvSpPr>
        <p:spPr/>
        <p:txBody>
          <a:bodyPr/>
          <a:lstStyle/>
          <a:p>
            <a:fld id="{E16BA917-7F09-4B8D-AF07-F52890C14046}" type="slidenum">
              <a:rPr lang="da-DK" smtClean="0"/>
              <a:pPr/>
              <a:t>28</a:t>
            </a:fld>
            <a:endParaRPr lang="da-DK"/>
          </a:p>
        </p:txBody>
      </p:sp>
      <p:sp>
        <p:nvSpPr>
          <p:cNvPr id="3" name="Text Placeholder 2">
            <a:extLst>
              <a:ext uri="{FF2B5EF4-FFF2-40B4-BE49-F238E27FC236}">
                <a16:creationId xmlns:a16="http://schemas.microsoft.com/office/drawing/2014/main" id="{83B52CC9-F772-4FEC-B096-FC04929BB975}"/>
              </a:ext>
            </a:extLst>
          </p:cNvPr>
          <p:cNvSpPr>
            <a:spLocks noGrp="1"/>
          </p:cNvSpPr>
          <p:nvPr>
            <p:ph type="body" sz="quarter" idx="17"/>
          </p:nvPr>
        </p:nvSpPr>
        <p:spPr/>
        <p:txBody>
          <a:bodyPr/>
          <a:lstStyle/>
          <a:p>
            <a:r>
              <a:rPr lang="en-US"/>
              <a:t>Practice 5</a:t>
            </a:r>
            <a:endParaRPr lang="da-DK"/>
          </a:p>
        </p:txBody>
      </p:sp>
      <p:sp>
        <p:nvSpPr>
          <p:cNvPr id="4" name="Title 3">
            <a:extLst>
              <a:ext uri="{FF2B5EF4-FFF2-40B4-BE49-F238E27FC236}">
                <a16:creationId xmlns:a16="http://schemas.microsoft.com/office/drawing/2014/main" id="{694D9431-23A8-43BA-A1D5-53727FFE5274}"/>
              </a:ext>
            </a:extLst>
          </p:cNvPr>
          <p:cNvSpPr>
            <a:spLocks noGrp="1"/>
          </p:cNvSpPr>
          <p:nvPr>
            <p:ph type="title"/>
          </p:nvPr>
        </p:nvSpPr>
        <p:spPr/>
        <p:txBody>
          <a:bodyPr/>
          <a:lstStyle/>
          <a:p>
            <a:r>
              <a:rPr lang="en-US"/>
              <a:t>PULL REQUEST</a:t>
            </a:r>
            <a:endParaRPr lang="da-DK"/>
          </a:p>
        </p:txBody>
      </p:sp>
      <p:sp>
        <p:nvSpPr>
          <p:cNvPr id="5" name="Content Placeholder 4">
            <a:extLst>
              <a:ext uri="{FF2B5EF4-FFF2-40B4-BE49-F238E27FC236}">
                <a16:creationId xmlns:a16="http://schemas.microsoft.com/office/drawing/2014/main" id="{7477F67A-7476-4DEE-8AAE-E6229D817E6F}"/>
              </a:ext>
            </a:extLst>
          </p:cNvPr>
          <p:cNvSpPr>
            <a:spLocks noGrp="1"/>
          </p:cNvSpPr>
          <p:nvPr>
            <p:ph sz="quarter" idx="19"/>
          </p:nvPr>
        </p:nvSpPr>
        <p:spPr/>
        <p:txBody>
          <a:bodyPr/>
          <a:lstStyle/>
          <a:p>
            <a:pPr marL="352425" indent="-342900">
              <a:buFont typeface="+mj-lt"/>
              <a:buAutoNum type="arabicPeriod"/>
            </a:pPr>
            <a:r>
              <a:rPr lang="en-US" sz="2000"/>
              <a:t>Create a pull request </a:t>
            </a:r>
            <a:r>
              <a:rPr lang="en-US" sz="2000" b="1"/>
              <a:t>‘</a:t>
            </a:r>
            <a:r>
              <a:rPr lang="en-US" sz="2000" i="1"/>
              <a:t>education’ </a:t>
            </a:r>
            <a:r>
              <a:rPr lang="en-US" sz="2000"/>
              <a:t>branch to </a:t>
            </a:r>
            <a:r>
              <a:rPr lang="en-US" sz="2000" i="1"/>
              <a:t>‘master’</a:t>
            </a:r>
          </a:p>
          <a:p>
            <a:pPr marL="352425" indent="-342900">
              <a:buFont typeface="+mj-lt"/>
              <a:buAutoNum type="arabicPeriod"/>
            </a:pPr>
            <a:r>
              <a:rPr lang="en-US" sz="2000"/>
              <a:t>Ask your coach for a code review</a:t>
            </a:r>
          </a:p>
          <a:p>
            <a:pPr marL="352425" indent="-342900">
              <a:buFont typeface="+mj-lt"/>
              <a:buAutoNum type="arabicPeriod"/>
            </a:pPr>
            <a:r>
              <a:rPr lang="en-US" sz="2000"/>
              <a:t>Ask your coach to create a pull request for you and to be assigned on a code review activity</a:t>
            </a:r>
            <a:endParaRPr lang="en-US" sz="1600"/>
          </a:p>
          <a:p>
            <a:pPr marL="352425" indent="-342900">
              <a:buFont typeface="+mj-lt"/>
              <a:buAutoNum type="arabicPeriod"/>
            </a:pPr>
            <a:r>
              <a:rPr lang="en-US" sz="2000"/>
              <a:t>Approve the changes and merge</a:t>
            </a:r>
          </a:p>
        </p:txBody>
      </p:sp>
      <p:pic>
        <p:nvPicPr>
          <p:cNvPr id="7" name="Graphic 6" descr="Flask">
            <a:extLst>
              <a:ext uri="{FF2B5EF4-FFF2-40B4-BE49-F238E27FC236}">
                <a16:creationId xmlns:a16="http://schemas.microsoft.com/office/drawing/2014/main" id="{2C8FFD77-078C-4BE6-A6F1-DD546DF266F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887539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WHAT IS A GIT STASH​?</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Sometimes you want to switch the branches, but you are working on an incomplete part of your current project. You don't want to make a commit of half-done work. Git stashing allows you to do so. The </a:t>
            </a:r>
            <a:r>
              <a:rPr lang="en-US" sz="1600" b="1" i="0">
                <a:solidFill>
                  <a:srgbClr val="333333"/>
                </a:solidFill>
                <a:effectLst/>
                <a:latin typeface="inter-bold"/>
              </a:rPr>
              <a:t>git stash command</a:t>
            </a:r>
            <a:r>
              <a:rPr lang="en-US" sz="1600" b="0" i="0">
                <a:solidFill>
                  <a:srgbClr val="333333"/>
                </a:solidFill>
                <a:effectLst/>
                <a:latin typeface="inter-regular"/>
              </a:rPr>
              <a:t> enables you to switch branches without committing the current branch.</a:t>
            </a:r>
          </a:p>
          <a:p>
            <a:pPr marL="0" indent="0" algn="just">
              <a:buNone/>
            </a:pPr>
            <a:r>
              <a:rPr lang="en-US" sz="1600" b="0" i="0">
                <a:solidFill>
                  <a:srgbClr val="333333"/>
                </a:solidFill>
                <a:effectLst/>
                <a:latin typeface="inter-regular"/>
              </a:rPr>
              <a:t>The below figure demonstrates the properties and role of stashing concerning repository and working directory.</a:t>
            </a:r>
          </a:p>
        </p:txBody>
      </p:sp>
      <p:pic>
        <p:nvPicPr>
          <p:cNvPr id="6" name="Picture 2" descr="Git Stash - javatpoint">
            <a:extLst>
              <a:ext uri="{FF2B5EF4-FFF2-40B4-BE49-F238E27FC236}">
                <a16:creationId xmlns:a16="http://schemas.microsoft.com/office/drawing/2014/main" id="{2E7B0C5F-F024-4982-AD19-3996495DB3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4623" y="2508991"/>
            <a:ext cx="5715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67671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STASH, APPLY</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To save changes temporarily, we can use the git stash command. </a:t>
            </a:r>
          </a:p>
          <a:p>
            <a:pPr marL="0" indent="0" algn="just">
              <a:buNone/>
            </a:pPr>
            <a:r>
              <a:rPr lang="en-US" sz="1600" b="0" i="0">
                <a:solidFill>
                  <a:srgbClr val="333333"/>
                </a:solidFill>
                <a:effectLst/>
                <a:latin typeface="inter-regular"/>
              </a:rPr>
              <a:t>The git stash command is used as:</a:t>
            </a: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To check the stored stashes, run the below command:</a:t>
            </a: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You can re-apply the changes that you just stashed by using the git stash command. To apply the commit, use the git stash command, followed by the apply option. It is used as:</a:t>
            </a: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p:txBody>
      </p:sp>
      <p:pic>
        <p:nvPicPr>
          <p:cNvPr id="8" name="Picture 7">
            <a:extLst>
              <a:ext uri="{FF2B5EF4-FFF2-40B4-BE49-F238E27FC236}">
                <a16:creationId xmlns:a16="http://schemas.microsoft.com/office/drawing/2014/main" id="{DFC8B65C-9E7B-434A-9FAD-BCA9CDA74CA7}"/>
              </a:ext>
            </a:extLst>
          </p:cNvPr>
          <p:cNvPicPr>
            <a:picLocks noChangeAspect="1"/>
          </p:cNvPicPr>
          <p:nvPr/>
        </p:nvPicPr>
        <p:blipFill rotWithShape="1">
          <a:blip r:embed="rId3"/>
          <a:srcRect r="9315"/>
          <a:stretch/>
        </p:blipFill>
        <p:spPr>
          <a:xfrm>
            <a:off x="1011861" y="2376752"/>
            <a:ext cx="6305550" cy="485775"/>
          </a:xfrm>
          <a:prstGeom prst="rect">
            <a:avLst/>
          </a:prstGeom>
        </p:spPr>
      </p:pic>
      <p:pic>
        <p:nvPicPr>
          <p:cNvPr id="10" name="Picture 9">
            <a:extLst>
              <a:ext uri="{FF2B5EF4-FFF2-40B4-BE49-F238E27FC236}">
                <a16:creationId xmlns:a16="http://schemas.microsoft.com/office/drawing/2014/main" id="{9CD80BCF-56FD-4F1B-9D32-74CADFAE6FFA}"/>
              </a:ext>
            </a:extLst>
          </p:cNvPr>
          <p:cNvPicPr>
            <a:picLocks noChangeAspect="1"/>
          </p:cNvPicPr>
          <p:nvPr/>
        </p:nvPicPr>
        <p:blipFill rotWithShape="1">
          <a:blip r:embed="rId4"/>
          <a:srcRect r="6365"/>
          <a:stretch/>
        </p:blipFill>
        <p:spPr>
          <a:xfrm>
            <a:off x="1011862" y="2950017"/>
            <a:ext cx="6305550" cy="504825"/>
          </a:xfrm>
          <a:prstGeom prst="rect">
            <a:avLst/>
          </a:prstGeom>
        </p:spPr>
      </p:pic>
      <p:pic>
        <p:nvPicPr>
          <p:cNvPr id="12" name="Picture 11">
            <a:extLst>
              <a:ext uri="{FF2B5EF4-FFF2-40B4-BE49-F238E27FC236}">
                <a16:creationId xmlns:a16="http://schemas.microsoft.com/office/drawing/2014/main" id="{DDABBB9F-C7CC-4FE5-9120-2CF34E27010F}"/>
              </a:ext>
            </a:extLst>
          </p:cNvPr>
          <p:cNvPicPr>
            <a:picLocks noChangeAspect="1"/>
          </p:cNvPicPr>
          <p:nvPr/>
        </p:nvPicPr>
        <p:blipFill>
          <a:blip r:embed="rId5"/>
          <a:stretch>
            <a:fillRect/>
          </a:stretch>
        </p:blipFill>
        <p:spPr>
          <a:xfrm>
            <a:off x="1011861" y="4112993"/>
            <a:ext cx="6305550" cy="523875"/>
          </a:xfrm>
          <a:prstGeom prst="rect">
            <a:avLst/>
          </a:prstGeom>
        </p:spPr>
      </p:pic>
      <p:pic>
        <p:nvPicPr>
          <p:cNvPr id="14" name="Picture 13">
            <a:extLst>
              <a:ext uri="{FF2B5EF4-FFF2-40B4-BE49-F238E27FC236}">
                <a16:creationId xmlns:a16="http://schemas.microsoft.com/office/drawing/2014/main" id="{3902CF0F-0F57-40C9-B8F9-B7ACBA01789B}"/>
              </a:ext>
            </a:extLst>
          </p:cNvPr>
          <p:cNvPicPr>
            <a:picLocks noChangeAspect="1"/>
          </p:cNvPicPr>
          <p:nvPr/>
        </p:nvPicPr>
        <p:blipFill rotWithShape="1">
          <a:blip r:embed="rId6"/>
          <a:srcRect r="15776"/>
          <a:stretch/>
        </p:blipFill>
        <p:spPr>
          <a:xfrm>
            <a:off x="1011861" y="5223653"/>
            <a:ext cx="6305550" cy="523875"/>
          </a:xfrm>
          <a:prstGeom prst="rect">
            <a:avLst/>
          </a:prstGeom>
        </p:spPr>
      </p:pic>
    </p:spTree>
    <p:extLst>
      <p:ext uri="{BB962C8B-B14F-4D97-AF65-F5344CB8AC3E}">
        <p14:creationId xmlns:p14="http://schemas.microsoft.com/office/powerpoint/2010/main" val="4213401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a:xfrm>
            <a:off x="649139" y="5393"/>
            <a:ext cx="10878759" cy="1052738"/>
          </a:xfrm>
        </p:spPr>
        <p:txBody>
          <a:bodyPr wrap="square" anchor="b">
            <a:normAutofit/>
          </a:bodyPr>
          <a:lstStyle/>
          <a:p>
            <a:r>
              <a:rPr lang="en-US"/>
              <a:t>STASHING​</a:t>
            </a:r>
            <a:endParaRPr lang="da-DK"/>
          </a:p>
        </p:txBody>
      </p:sp>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a:xfrm>
            <a:off x="670985" y="1056000"/>
            <a:ext cx="10850033" cy="402384"/>
          </a:xfrm>
        </p:spPr>
        <p:txBody>
          <a:bodyPr anchor="t">
            <a:normAutofit/>
          </a:bodyPr>
          <a:lstStyle/>
          <a:p>
            <a:r>
              <a:rPr lang="en-US"/>
              <a:t>POP, DROP</a:t>
            </a:r>
            <a:endParaRPr lang="da-DK"/>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0985" y="1634347"/>
            <a:ext cx="10878759" cy="4543815"/>
          </a:xfrm>
        </p:spPr>
        <p:txBody>
          <a:bodyPr>
            <a:normAutofit/>
          </a:bodyPr>
          <a:lstStyle/>
          <a:p>
            <a:pPr marL="0" indent="0" algn="just">
              <a:buNone/>
            </a:pPr>
            <a:r>
              <a:rPr lang="en-US" sz="1600" b="0" i="0">
                <a:solidFill>
                  <a:srgbClr val="333333"/>
                </a:solidFill>
                <a:effectLst/>
                <a:latin typeface="inter-regular"/>
              </a:rPr>
              <a:t>We can track the stashes and their changes. To see the changes in the file before stash and after stash operation, run the below command:</a:t>
            </a: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a:p>
            <a:pPr marL="0" indent="0" algn="just">
              <a:buNone/>
            </a:pPr>
            <a:r>
              <a:rPr lang="en-US" sz="1600" b="0" i="0">
                <a:solidFill>
                  <a:srgbClr val="333333"/>
                </a:solidFill>
                <a:effectLst/>
                <a:latin typeface="inter-regular"/>
              </a:rPr>
              <a:t>Git allows the user to re-apply the previous commits by using git stash pop command. The popping option removes the changes from stash and applies them to your working file.</a:t>
            </a:r>
          </a:p>
          <a:p>
            <a:pPr marL="0" indent="0" algn="just">
              <a:buNone/>
            </a:pPr>
            <a:r>
              <a:rPr lang="en-US" sz="1600" b="0" i="0">
                <a:solidFill>
                  <a:srgbClr val="333333"/>
                </a:solidFill>
                <a:effectLst/>
                <a:latin typeface="inter-regular"/>
              </a:rPr>
              <a:t>The </a:t>
            </a:r>
            <a:r>
              <a:rPr lang="en-US" sz="1600" b="1" i="0">
                <a:solidFill>
                  <a:srgbClr val="333333"/>
                </a:solidFill>
                <a:effectLst/>
                <a:latin typeface="inter-regular"/>
              </a:rPr>
              <a:t>git stash pop</a:t>
            </a:r>
            <a:r>
              <a:rPr lang="en-US" sz="1600" b="0" i="0">
                <a:solidFill>
                  <a:srgbClr val="333333"/>
                </a:solidFill>
                <a:effectLst/>
                <a:latin typeface="inter-regular"/>
              </a:rPr>
              <a:t> command is quite like git stash apply. The main difference between both commands is stash pop command that deletes the stash from the stack after it is applied.</a:t>
            </a:r>
          </a:p>
          <a:p>
            <a:pPr marL="0" indent="0" algn="just">
              <a:buNone/>
            </a:pPr>
            <a:endParaRPr lang="en-US" sz="1600">
              <a:solidFill>
                <a:srgbClr val="333333"/>
              </a:solidFill>
              <a:latin typeface="inter-regular"/>
            </a:endParaRPr>
          </a:p>
          <a:p>
            <a:pPr marL="0" indent="0" algn="just">
              <a:buNone/>
            </a:pPr>
            <a:r>
              <a:rPr lang="en-US" sz="1600" b="0" i="0">
                <a:solidFill>
                  <a:srgbClr val="333333"/>
                </a:solidFill>
                <a:effectLst/>
                <a:latin typeface="inter-regular"/>
              </a:rPr>
              <a:t>The </a:t>
            </a:r>
            <a:r>
              <a:rPr lang="en-US" sz="1600" b="1" i="0">
                <a:solidFill>
                  <a:srgbClr val="333333"/>
                </a:solidFill>
                <a:effectLst/>
                <a:latin typeface="inter-bold"/>
              </a:rPr>
              <a:t>git stash drop</a:t>
            </a:r>
            <a:r>
              <a:rPr lang="en-US" sz="1600" b="0" i="0">
                <a:solidFill>
                  <a:srgbClr val="333333"/>
                </a:solidFill>
                <a:effectLst/>
                <a:latin typeface="inter-regular"/>
              </a:rPr>
              <a:t> command is used to delete a stash from the queue. Generally, it deletes the most recent stash. Caution should be taken before using stash drop command, as it is difficult to undo if once applied.</a:t>
            </a:r>
          </a:p>
          <a:p>
            <a:pPr marL="0" indent="0" algn="just">
              <a:buNone/>
            </a:pPr>
            <a:r>
              <a:rPr lang="en-US" sz="1600" b="0" i="0">
                <a:solidFill>
                  <a:srgbClr val="333333"/>
                </a:solidFill>
                <a:effectLst/>
                <a:latin typeface="inter-regular"/>
              </a:rPr>
              <a:t>The only way to revert it is if you do not close the terminal after deleting the stash. The stash drop command will be used as:</a:t>
            </a: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b="0" i="0">
              <a:solidFill>
                <a:srgbClr val="333333"/>
              </a:solidFill>
              <a:effectLst/>
              <a:latin typeface="inter-regular"/>
            </a:endParaRPr>
          </a:p>
          <a:p>
            <a:pPr marL="0" indent="0" algn="just">
              <a:buNone/>
            </a:pPr>
            <a:endParaRPr lang="en-US" sz="1600">
              <a:solidFill>
                <a:srgbClr val="333333"/>
              </a:solidFill>
              <a:latin typeface="inter-regular"/>
            </a:endParaRPr>
          </a:p>
          <a:p>
            <a:pPr marL="0" indent="0" algn="just">
              <a:buNone/>
            </a:pPr>
            <a:endParaRPr lang="en-US" sz="1600" b="0" i="0">
              <a:solidFill>
                <a:srgbClr val="333333"/>
              </a:solidFill>
              <a:effectLst/>
              <a:latin typeface="inter-regular"/>
            </a:endParaRPr>
          </a:p>
        </p:txBody>
      </p:sp>
      <p:pic>
        <p:nvPicPr>
          <p:cNvPr id="7" name="Picture 6">
            <a:extLst>
              <a:ext uri="{FF2B5EF4-FFF2-40B4-BE49-F238E27FC236}">
                <a16:creationId xmlns:a16="http://schemas.microsoft.com/office/drawing/2014/main" id="{368C2490-5F7F-4A99-89DD-330162BF5A40}"/>
              </a:ext>
            </a:extLst>
          </p:cNvPr>
          <p:cNvPicPr>
            <a:picLocks noChangeAspect="1"/>
          </p:cNvPicPr>
          <p:nvPr/>
        </p:nvPicPr>
        <p:blipFill>
          <a:blip r:embed="rId3"/>
          <a:stretch>
            <a:fillRect/>
          </a:stretch>
        </p:blipFill>
        <p:spPr>
          <a:xfrm>
            <a:off x="1011861" y="2165788"/>
            <a:ext cx="6305550" cy="571500"/>
          </a:xfrm>
          <a:prstGeom prst="rect">
            <a:avLst/>
          </a:prstGeom>
        </p:spPr>
      </p:pic>
      <p:pic>
        <p:nvPicPr>
          <p:cNvPr id="11" name="Picture 10">
            <a:extLst>
              <a:ext uri="{FF2B5EF4-FFF2-40B4-BE49-F238E27FC236}">
                <a16:creationId xmlns:a16="http://schemas.microsoft.com/office/drawing/2014/main" id="{C5F8C6DE-AB40-4707-878D-345FCBD3DEEC}"/>
              </a:ext>
            </a:extLst>
          </p:cNvPr>
          <p:cNvPicPr>
            <a:picLocks noChangeAspect="1"/>
          </p:cNvPicPr>
          <p:nvPr/>
        </p:nvPicPr>
        <p:blipFill rotWithShape="1">
          <a:blip r:embed="rId4"/>
          <a:srcRect r="1926"/>
          <a:stretch/>
        </p:blipFill>
        <p:spPr>
          <a:xfrm>
            <a:off x="1011862" y="3933849"/>
            <a:ext cx="6305550" cy="523875"/>
          </a:xfrm>
          <a:prstGeom prst="rect">
            <a:avLst/>
          </a:prstGeom>
        </p:spPr>
      </p:pic>
      <p:pic>
        <p:nvPicPr>
          <p:cNvPr id="15" name="Picture 14">
            <a:extLst>
              <a:ext uri="{FF2B5EF4-FFF2-40B4-BE49-F238E27FC236}">
                <a16:creationId xmlns:a16="http://schemas.microsoft.com/office/drawing/2014/main" id="{E51275D0-EF5D-4591-92F9-0E8112575845}"/>
              </a:ext>
            </a:extLst>
          </p:cNvPr>
          <p:cNvPicPr>
            <a:picLocks noChangeAspect="1"/>
          </p:cNvPicPr>
          <p:nvPr/>
        </p:nvPicPr>
        <p:blipFill rotWithShape="1">
          <a:blip r:embed="rId5"/>
          <a:srcRect r="2359"/>
          <a:stretch/>
        </p:blipFill>
        <p:spPr>
          <a:xfrm>
            <a:off x="1011861" y="5540062"/>
            <a:ext cx="6305550" cy="523875"/>
          </a:xfrm>
          <a:prstGeom prst="rect">
            <a:avLst/>
          </a:prstGeom>
        </p:spPr>
      </p:pic>
    </p:spTree>
    <p:extLst>
      <p:ext uri="{BB962C8B-B14F-4D97-AF65-F5344CB8AC3E}">
        <p14:creationId xmlns:p14="http://schemas.microsoft.com/office/powerpoint/2010/main" val="89901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
        <p:nvSpPr>
          <p:cNvPr id="5" name="Content Placeholder 4">
            <a:extLst>
              <a:ext uri="{FF2B5EF4-FFF2-40B4-BE49-F238E27FC236}">
                <a16:creationId xmlns:a16="http://schemas.microsoft.com/office/drawing/2014/main" id="{6E82D385-8ECD-44A0-B6A4-E5094D358A82}"/>
              </a:ext>
            </a:extLst>
          </p:cNvPr>
          <p:cNvSpPr txBox="1">
            <a:spLocks/>
          </p:cNvSpPr>
          <p:nvPr/>
        </p:nvSpPr>
        <p:spPr>
          <a:xfrm>
            <a:off x="672001" y="1620838"/>
            <a:ext cx="10856912" cy="4568825"/>
          </a:xfrm>
          <a:prstGeom prst="rect">
            <a:avLst/>
          </a:prstGeom>
        </p:spPr>
        <p:txBody>
          <a:bodyPr/>
          <a:lst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9525" indent="0">
              <a:buNone/>
            </a:pPr>
            <a:endParaRPr lang="en-US" sz="1800"/>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7F4D99E-48A7-48DB-A691-398FC9FE4E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32</Slides>
  <Notes>10</Notes>
  <HiddenSlides>2</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SIMCORP</vt:lpstr>
      <vt:lpstr>PowerPoint Presentation</vt:lpstr>
      <vt:lpstr>Agenda</vt:lpstr>
      <vt:lpstr>version control system</vt:lpstr>
      <vt:lpstr>version control system</vt:lpstr>
      <vt:lpstr>LOCAL/REMOTE REPOSITORY​</vt:lpstr>
      <vt:lpstr>gnoring files</vt:lpstr>
      <vt:lpstr>LOCAL/REMOTE REPOSITORY</vt:lpstr>
      <vt:lpstr>Coffee Break</vt:lpstr>
      <vt:lpstr>LOCAL/REMOTE REPOSITORY​</vt:lpstr>
      <vt:lpstr>LOCAL/REMOTE REPOSITORY​</vt:lpstr>
      <vt:lpstr>LOCAL/REMOTE REPOSITORY​</vt:lpstr>
      <vt:lpstr>“SAVING” YOUR CHANGES​</vt:lpstr>
      <vt:lpstr>COMMIT</vt:lpstr>
      <vt:lpstr>Coffee Break</vt:lpstr>
      <vt:lpstr>“Sync” with the remote 1</vt:lpstr>
      <vt:lpstr>“sync” with the remote 2</vt:lpstr>
      <vt:lpstr>PowerPoint Presentation</vt:lpstr>
      <vt:lpstr>“Sync” with the remote</vt:lpstr>
      <vt:lpstr>LUNCH</vt:lpstr>
      <vt:lpstr>BRANCHES</vt:lpstr>
      <vt:lpstr>BRANCHES​</vt:lpstr>
      <vt:lpstr>BRANCHES​</vt:lpstr>
      <vt:lpstr>BRANCHES​</vt:lpstr>
      <vt:lpstr>BRANCHES</vt:lpstr>
      <vt:lpstr>Integrate changes from one branch to another</vt:lpstr>
      <vt:lpstr>Coffee Break</vt:lpstr>
      <vt:lpstr>Pull requests</vt:lpstr>
      <vt:lpstr>PULL REQUEST</vt:lpstr>
      <vt:lpstr>STASHING​</vt:lpstr>
      <vt:lpstr>STASHING​</vt:lpstr>
      <vt:lpstr>STASHING​</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Oleg Dudnyk</dc:creator>
  <cp:revision>2</cp:revision>
  <dcterms:created xsi:type="dcterms:W3CDTF">2020-08-21T07:47:45Z</dcterms:created>
  <dcterms:modified xsi:type="dcterms:W3CDTF">2024-11-04T16:42:06Z</dcterms:modified>
</cp:coreProperties>
</file>